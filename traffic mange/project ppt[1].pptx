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4"/>
  </p:handoutMasterIdLst>
  <p:sldIdLst>
    <p:sldId id="256" r:id="rId3"/>
    <p:sldId id="257" r:id="rId5"/>
    <p:sldId id="359" r:id="rId6"/>
    <p:sldId id="333" r:id="rId7"/>
    <p:sldId id="401" r:id="rId8"/>
    <p:sldId id="402" r:id="rId9"/>
    <p:sldId id="410" r:id="rId10"/>
    <p:sldId id="263" r:id="rId11"/>
    <p:sldId id="408" r:id="rId12"/>
    <p:sldId id="264" r:id="rId13"/>
    <p:sldId id="353" r:id="rId14"/>
    <p:sldId id="398" r:id="rId15"/>
    <p:sldId id="361" r:id="rId16"/>
    <p:sldId id="339" r:id="rId17"/>
    <p:sldId id="338" r:id="rId18"/>
    <p:sldId id="409" r:id="rId19"/>
    <p:sldId id="330" r:id="rId20"/>
    <p:sldId id="331" r:id="rId21"/>
    <p:sldId id="324" r:id="rId22"/>
    <p:sldId id="325" r:id="rId23"/>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500000"/>
    <a:srgbClr val="8D4B39"/>
    <a:srgbClr val="3A12E4"/>
    <a:srgbClr val="AD13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E9D305-B1F9-4450-9F5A-3FB3B07BF5B3}"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p:restoredTop sz="94718"/>
  </p:normalViewPr>
  <p:slideViewPr>
    <p:cSldViewPr snapToGrid="0">
      <p:cViewPr varScale="1">
        <p:scale>
          <a:sx n="95" d="100"/>
          <a:sy n="95" d="100"/>
        </p:scale>
        <p:origin x="115"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289C672D-F7F9-4076-8BE2-9C768DB27CD8}"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Footer Placeholder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Century Gothic" panose="020B0502020202020204" pitchFamily="34" charset="0"/>
              </a:rPr>
            </a:fld>
            <a:endParaRPr lang="en-US" altLang="en-US" sz="1200" dirty="0">
              <a:latin typeface="Century Gothic" panose="020B0502020202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9EEFAD4-5C0E-47A2-92E7-DBD96CFCBA9F}"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Century Gothic" panose="020B0502020202020204" pitchFamily="34" charset="0"/>
              </a:rPr>
            </a:fld>
            <a:endParaRPr lang="en-US" altLang="en-US" sz="1200" dirty="0">
              <a:latin typeface="Century Gothic" panose="020B0502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a:solidFill>
              <a:srgbClr val="000000">
                <a:alpha val="100000"/>
              </a:srgbClr>
            </a:solidFill>
            <a:miter lim="800000"/>
          </a:ln>
        </p:spPr>
      </p:sp>
      <p:sp>
        <p:nvSpPr>
          <p:cNvPr id="10243"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IN" altLang="en-US" dirty="0"/>
          </a:p>
        </p:txBody>
      </p:sp>
      <p:sp>
        <p:nvSpPr>
          <p:cNvPr id="10244"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IN" altLang="en-US" sz="1200" dirty="0">
                <a:latin typeface="Century Gothic" panose="020B0502020202020204" pitchFamily="34" charset="0"/>
              </a:rPr>
            </a:fld>
            <a:endParaRPr lang="en-IN" altLang="en-US" sz="1200" dirty="0">
              <a:latin typeface="Century Gothic" panose="020B0502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ln>
            <a:solidFill>
              <a:srgbClr val="000000">
                <a:alpha val="100000"/>
              </a:srgbClr>
            </a:solidFill>
            <a:miter lim="800000"/>
          </a:ln>
        </p:spPr>
      </p:sp>
      <p:sp>
        <p:nvSpPr>
          <p:cNvPr id="12291"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IN" altLang="en-US" dirty="0"/>
          </a:p>
        </p:txBody>
      </p:sp>
      <p:sp>
        <p:nvSpPr>
          <p:cNvPr id="12292"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entury Gothic" panose="020B0502020202020204" pitchFamily="34" charset="0"/>
              </a:rPr>
            </a:fld>
            <a:endParaRPr lang="en-US" altLang="en-US" sz="1200" dirty="0">
              <a:latin typeface="Century Gothic" panose="020B0502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ln>
            <a:solidFill>
              <a:srgbClr val="000000">
                <a:alpha val="100000"/>
              </a:srgbClr>
            </a:solidFill>
            <a:miter lim="800000"/>
          </a:ln>
        </p:spPr>
      </p:sp>
      <p:sp>
        <p:nvSpPr>
          <p:cNvPr id="15363"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IN" altLang="en-US" dirty="0"/>
          </a:p>
        </p:txBody>
      </p:sp>
      <p:sp>
        <p:nvSpPr>
          <p:cNvPr id="15364"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entury Gothic" panose="020B0502020202020204" pitchFamily="34" charset="0"/>
              </a:rPr>
            </a:fld>
            <a:endParaRPr lang="en-US" altLang="en-US" sz="1200" dirty="0">
              <a:latin typeface="Century Gothic" panose="020B0502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a:solidFill>
              <a:srgbClr val="000000">
                <a:alpha val="100000"/>
              </a:srgbClr>
            </a:solidFill>
            <a:miter lim="800000"/>
          </a:ln>
        </p:spPr>
      </p:sp>
      <p:sp>
        <p:nvSpPr>
          <p:cNvPr id="19459" name="Notes Placeholder 2"/>
          <p:cNvSpPr>
            <a:spLocks noGrp="1"/>
          </p:cNvSpPr>
          <p:nvPr>
            <p:ph type="body" idx="1"/>
          </p:nvPr>
        </p:nvSpPr>
        <p:spPr>
          <a:noFill/>
          <a:ln>
            <a:noFill/>
          </a:ln>
        </p:spPr>
        <p:txBody>
          <a:bodyPr wrap="square" lIns="91440" tIns="45720" rIns="91440" bIns="45720" anchor="t" anchorCtr="0"/>
          <a:lstStyle/>
          <a:p>
            <a:pPr lvl="0" eaLnBrk="1" hangingPunct="1">
              <a:spcBef>
                <a:spcPct val="0"/>
              </a:spcBef>
            </a:pPr>
            <a:endParaRPr lang="en-IN" altLang="en-US" dirty="0"/>
          </a:p>
        </p:txBody>
      </p:sp>
      <p:sp>
        <p:nvSpPr>
          <p:cNvPr id="19460"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US" altLang="en-US" sz="1200" dirty="0">
                <a:latin typeface="Century Gothic" panose="020B0502020202020204" pitchFamily="34" charset="0"/>
              </a:rPr>
            </a:fld>
            <a:endParaRPr lang="en-US" altLang="en-US" sz="1200" dirty="0">
              <a:latin typeface="Century Gothic" panose="020B0502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Rounded Rectangle 12"/>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Rectangle 4"/>
          <p:cNvSpPr/>
          <p:nvPr/>
        </p:nvSpPr>
        <p:spPr bwMode="ltGray">
          <a:xfrm>
            <a:off x="84138" y="1449388"/>
            <a:ext cx="12028488" cy="1527175"/>
          </a:xfrm>
          <a:prstGeom prst="rect">
            <a:avLst/>
          </a:prstGeom>
          <a:solidFill>
            <a:schemeClr val="bg2">
              <a:lumMod val="5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5"/>
          <p:cNvSpPr/>
          <p:nvPr/>
        </p:nvSpPr>
        <p:spPr>
          <a:xfrm>
            <a:off x="84138" y="1397000"/>
            <a:ext cx="12028488" cy="120650"/>
          </a:xfrm>
          <a:prstGeom prst="rect">
            <a:avLst/>
          </a:prstGeom>
          <a:solidFill>
            <a:schemeClr val="bg2">
              <a:lumMod val="75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6"/>
          <p:cNvSpPr/>
          <p:nvPr/>
        </p:nvSpPr>
        <p:spPr>
          <a:xfrm>
            <a:off x="84138" y="2976563"/>
            <a:ext cx="12028488" cy="111125"/>
          </a:xfrm>
          <a:prstGeom prst="rect">
            <a:avLst/>
          </a:prstGeom>
          <a:solidFill>
            <a:schemeClr val="bg2"/>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chemeClr val="bg1"/>
                </a:solidFill>
              </a:defRPr>
            </a:lvl1pPr>
          </a:lstStyle>
          <a:p>
            <a:r>
              <a:rPr lang="en-US"/>
              <a:t>Click to edit Master title style</a:t>
            </a:r>
            <a:endParaRPr lang="en-US" dirty="0"/>
          </a:p>
        </p:txBody>
      </p:sp>
      <p:sp>
        <p:nvSpPr>
          <p:cNvPr id="3" name="Date Placeholder 27"/>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042C5352-A12D-4A06-B677-EB6B23131B6E}"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0" name="Footer Placeholder 16"/>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1" name="Slide Number Placeholder 28"/>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solidFill>
                  <a:srgbClr val="FFFFFF"/>
                </a:solidFill>
                <a:latin typeface="Century Gothic" panose="020B0502020202020204" pitchFamily="34" charset="0"/>
              </a:rPr>
            </a:fld>
            <a:endParaRPr lang="en-US" altLang="en-US" dirty="0">
              <a:solidFill>
                <a:srgbClr val="FFFFFF"/>
              </a:solidFill>
              <a:latin typeface="Century Gothic" panose="020B0502020202020204" pitchFamily="34" charset="0"/>
            </a:endParaRPr>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1219200" y="1447800"/>
            <a:ext cx="10363200" cy="4572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5"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4"/>
          <p:cNvSpPr/>
          <p:nvPr/>
        </p:nvSpPr>
        <p:spPr>
          <a:xfrm flipV="1">
            <a:off x="92075" y="2376488"/>
            <a:ext cx="12018963"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5"/>
          <p:cNvSpPr/>
          <p:nvPr/>
        </p:nvSpPr>
        <p:spPr>
          <a:xfrm>
            <a:off x="92075" y="2341563"/>
            <a:ext cx="12018963"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ectangle 6"/>
          <p:cNvSpPr/>
          <p:nvPr/>
        </p:nvSpPr>
        <p:spPr>
          <a:xfrm>
            <a:off x="90488" y="2468563"/>
            <a:ext cx="12020550"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963084" y="2547938"/>
            <a:ext cx="103632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endParaRPr lang="en-US"/>
          </a:p>
        </p:txBody>
      </p:sp>
      <p:sp>
        <p:nvSpPr>
          <p:cNvPr id="2" name="Title 1"/>
          <p:cNvSpPr>
            <a:spLocks noGrp="1"/>
          </p:cNvSpPr>
          <p:nvPr>
            <p:ph type="title"/>
          </p:nvPr>
        </p:nvSpPr>
        <p:spPr>
          <a:xfrm>
            <a:off x="963084" y="952501"/>
            <a:ext cx="10363200" cy="1362075"/>
          </a:xfrm>
        </p:spPr>
        <p:txBody>
          <a:bodyPr/>
          <a:lstStyle>
            <a:lvl1pPr algn="l">
              <a:buNone/>
              <a:defRPr sz="4000" b="0" cap="none"/>
            </a:lvl1pPr>
          </a:lstStyle>
          <a:p>
            <a:r>
              <a:rPr lang="en-US"/>
              <a:t>Click to edit Master title style</a:t>
            </a:r>
            <a:endParaRPr lang="en-US"/>
          </a:p>
        </p:txBody>
      </p:sp>
      <p:sp>
        <p:nvSpPr>
          <p:cNvPr id="9" name="Date Placeholder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E56D2D4-65D8-4EC0-BC12-0C0C8881D25C}"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0" name="Footer Placeholder 4"/>
          <p:cNvSpPr>
            <a:spLocks noGrp="1"/>
          </p:cNvSpPr>
          <p:nvPr>
            <p:ph type="ftr" sz="quarter" idx="3"/>
          </p:nvPr>
        </p:nvSpPr>
        <p:spPr>
          <a:xfrm>
            <a:off x="1066800" y="6172200"/>
            <a:ext cx="53340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1" name="Slide Number Placeholder 5"/>
          <p:cNvSpPr>
            <a:spLocks noGrp="1"/>
          </p:cNvSpPr>
          <p:nvPr>
            <p:ph type="sldNum" sz="quarter" idx="4"/>
          </p:nvPr>
        </p:nvSpPr>
        <p:spPr>
          <a:xfrm>
            <a:off x="195263" y="6208713"/>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fld>
            <a:endParaRPr lang="en-US" altLang="en-US" dirty="0">
              <a:latin typeface="Century Gothic" panose="020B0502020202020204" pitchFamily="34" charset="0"/>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2"/>
          </p:nvPr>
        </p:nvSpPr>
        <p:spPr>
          <a:xfrm>
            <a:off x="6578600" y="1447800"/>
            <a:ext cx="4998720" cy="4572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Content Placeholder 8"/>
          <p:cNvSpPr>
            <a:spLocks noGrp="1"/>
          </p:cNvSpPr>
          <p:nvPr>
            <p:ph sz="quarter" idx="1"/>
          </p:nvPr>
        </p:nvSpPr>
        <p:spPr>
          <a:xfrm>
            <a:off x="1219200" y="1447800"/>
            <a:ext cx="4998720" cy="4572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half" idx="4"/>
          </p:nvPr>
        </p:nvSpPr>
        <p:spPr>
          <a:xfrm>
            <a:off x="66040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11" name="Content Placeholder 10"/>
          <p:cNvSpPr>
            <a:spLocks noGrp="1"/>
          </p:cNvSpPr>
          <p:nvPr>
            <p:ph sz="half" idx="2"/>
          </p:nvPr>
        </p:nvSpPr>
        <p:spPr>
          <a:xfrm>
            <a:off x="1219200" y="2247900"/>
            <a:ext cx="4978400" cy="3886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endParaRPr lang="en-US"/>
          </a:p>
        </p:txBody>
      </p:sp>
      <p:sp>
        <p:nvSpPr>
          <p:cNvPr id="2" name="Title 1"/>
          <p:cNvSpPr>
            <a:spLocks noGrp="1"/>
          </p:cNvSpPr>
          <p:nvPr>
            <p:ph type="title"/>
          </p:nvPr>
        </p:nvSpPr>
        <p:spPr>
          <a:xfrm>
            <a:off x="1219200" y="273050"/>
            <a:ext cx="10363200" cy="1143000"/>
          </a:xfrm>
        </p:spPr>
        <p:txBody>
          <a:bodyPr/>
          <a:lstStyle>
            <a:lvl1pPr>
              <a:defRPr/>
            </a:lvl1pPr>
          </a:lstStyle>
          <a:p>
            <a:r>
              <a:rPr lang="en-US"/>
              <a:t>Click to edit Master title style</a:t>
            </a:r>
            <a:endParaRPr lang="en-US"/>
          </a:p>
        </p:txBody>
      </p:sp>
      <p:sp>
        <p:nvSpPr>
          <p:cNvPr id="5" name="Date Placeholder 4"/>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4" name="Rectangle 1"/>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5" name="Rounded Rectangle 8"/>
          <p:cNvSpPr/>
          <p:nvPr/>
        </p:nvSpPr>
        <p:spPr>
          <a:xfrm>
            <a:off x="85725"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Content Placeholder 10"/>
          <p:cNvSpPr>
            <a:spLocks noGrp="1"/>
          </p:cNvSpPr>
          <p:nvPr>
            <p:ph sz="quarter" idx="1"/>
          </p:nvPr>
        </p:nvSpPr>
        <p:spPr>
          <a:xfrm>
            <a:off x="3962400" y="1600200"/>
            <a:ext cx="7620000" cy="4495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endParaRPr lang="en-US"/>
          </a:p>
        </p:txBody>
      </p:sp>
      <p:sp>
        <p:nvSpPr>
          <p:cNvPr id="2" name="Title 1"/>
          <p:cNvSpPr>
            <a:spLocks noGrp="1"/>
          </p:cNvSpPr>
          <p:nvPr>
            <p:ph type="title"/>
          </p:nvPr>
        </p:nvSpPr>
        <p:spPr>
          <a:xfrm>
            <a:off x="1219200" y="273050"/>
            <a:ext cx="10363200" cy="1143000"/>
          </a:xfrm>
        </p:spPr>
        <p:txBody>
          <a:bodyPr/>
          <a:lstStyle>
            <a:lvl1pPr algn="l">
              <a:buNone/>
              <a:defRPr sz="4000" b="0"/>
            </a:lvl1pPr>
          </a:lstStyle>
          <a:p>
            <a:r>
              <a:rPr lang="en-US"/>
              <a:t>Click to edit Master title style</a:t>
            </a:r>
            <a:endParaRPr lang="en-US"/>
          </a:p>
        </p:txBody>
      </p:sp>
      <p:sp>
        <p:nvSpPr>
          <p:cNvPr id="6" name="Date Placeholder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4E4540F-0D4D-470A-BA62-AA13E843F5E0}"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7" name="Footer Placeholder 5"/>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8" name="Slide Number Placeholder 6"/>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fld>
            <a:endParaRPr lang="en-US" altLang="en-US" dirty="0">
              <a:latin typeface="Century Gothic" panose="020B0502020202020204" pitchFamily="34" charset="0"/>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5" name="Rectangle 1"/>
          <p:cNvSpPr/>
          <p:nvPr/>
        </p:nvSpPr>
        <p:spPr>
          <a:xfrm flipV="1">
            <a:off x="90488" y="4683125"/>
            <a:ext cx="12009438"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Rectangle 3"/>
          <p:cNvSpPr/>
          <p:nvPr/>
        </p:nvSpPr>
        <p:spPr>
          <a:xfrm>
            <a:off x="92075" y="4649788"/>
            <a:ext cx="12007850"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 name="Rectangle 4"/>
          <p:cNvSpPr/>
          <p:nvPr/>
        </p:nvSpPr>
        <p:spPr>
          <a:xfrm>
            <a:off x="92075" y="4773613"/>
            <a:ext cx="12007850" cy="49213"/>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en-US" sz="3200" b="0" i="0" u="none" strike="noStrike" kern="1200" cap="none" spc="0" normalizeH="0" baseline="0" noProof="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endParaRPr lang="en-US"/>
          </a:p>
        </p:txBody>
      </p:sp>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lang="en-US"/>
              <a:t>Click to edit Master title style</a:t>
            </a:r>
            <a:endParaRPr lang="en-US"/>
          </a:p>
        </p:txBody>
      </p:sp>
      <p:sp>
        <p:nvSpPr>
          <p:cNvPr id="8" name="Date Placeholder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1CD66F2-2B14-44C3-8AAE-DF4AA603D7B5}"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9" name="Footer Placeholder 5"/>
          <p:cNvSpPr>
            <a:spLocks noGrp="1"/>
          </p:cNvSpPr>
          <p:nvPr>
            <p:ph type="ftr" sz="quarter" idx="3"/>
          </p:nvPr>
        </p:nvSpPr>
        <p:spPr>
          <a:xfrm>
            <a:off x="1219200" y="6172200"/>
            <a:ext cx="5181600" cy="457200"/>
          </a:xfrm>
          <a:prstGeom prst="rect">
            <a:avLst/>
          </a:prstGeom>
        </p:spPr>
        <p:txBody>
          <a:bodyPr anchor="ctr" anchorCtr="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10" name="Slide Number Placeholder 6"/>
          <p:cNvSpPr>
            <a:spLocks noGrp="1"/>
          </p:cNvSpPr>
          <p:nvPr>
            <p:ph type="sldNum" sz="quarter" idx="4"/>
          </p:nvPr>
        </p:nvSpPr>
        <p:spPr>
          <a:xfrm>
            <a:off x="195263" y="6208713"/>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p>
            <a:pPr algn="ctr" eaLnBrk="1" hangingPunct="1">
              <a:buNone/>
            </a:pPr>
            <a:fld id="{9A0DB2DC-4C9A-4742-B13C-FB6460FD3503}" type="slidenum">
              <a:rPr lang="en-US" altLang="en-US" dirty="0">
                <a:latin typeface="Century Gothic" panose="020B0502020202020204" pitchFamily="34" charset="0"/>
              </a:rPr>
            </a:fld>
            <a:endParaRPr lang="en-US" altLang="en-US" dirty="0">
              <a:latin typeface="Century Gothic" panose="020B0502020202020204" pitchFamily="34" charset="0"/>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Title 1"/>
          <p:cNvSpPr>
            <a:spLocks noGrp="1"/>
          </p:cNvSpPr>
          <p:nvPr>
            <p:ph type="title"/>
          </p:nvPr>
        </p:nvSpPr>
        <p:spPr/>
        <p:txBody>
          <a:bodyPr/>
          <a:lstStyle/>
          <a:p>
            <a:r>
              <a:rPr lang="en-US"/>
              <a:t>Click to edit Master title style</a:t>
            </a:r>
            <a:endParaRPr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274641"/>
            <a:ext cx="7416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 name="Vertical Title 1"/>
          <p:cNvSpPr>
            <a:spLocks noGrp="1"/>
          </p:cNvSpPr>
          <p:nvPr>
            <p:ph type="title" orient="vert"/>
          </p:nvPr>
        </p:nvSpPr>
        <p:spPr>
          <a:xfrm>
            <a:off x="8839200" y="274642"/>
            <a:ext cx="2682240" cy="5851525"/>
          </a:xfrm>
        </p:spPr>
        <p:txBody>
          <a:bodyPr vert="eaVert"/>
          <a:lstStyle/>
          <a:p>
            <a:r>
              <a:rPr lang="en-US"/>
              <a:t>Click to edit Master title style</a:t>
            </a:r>
            <a:endParaRPr lang="en-US"/>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05600"/>
          </a:xfrm>
        </p:spPr>
        <p:txBody>
          <a:bodyPr/>
          <a:lstStyle>
            <a:lvl1pPr algn="ctr">
              <a:defRPr sz="3200">
                <a:solidFill>
                  <a:schemeClr val="tx1"/>
                </a:solidFill>
                <a:latin typeface="+mj-lt"/>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ounded Rectangle 10"/>
          <p:cNvSpPr/>
          <p:nvPr/>
        </p:nvSpPr>
        <p:spPr>
          <a:xfrm>
            <a:off x="87313" y="69850"/>
            <a:ext cx="1201737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400" b="0" i="0" u="none" strike="noStrike" kern="1200" cap="none" spc="0" normalizeH="0" baseline="0" noProof="0">
                <a:ln>
                  <a:noFill/>
                </a:ln>
                <a:solidFill>
                  <a:schemeClr val="tx2"/>
                </a:solidFill>
                <a:effectLst/>
                <a:uLnTx/>
                <a:uFillTx/>
                <a:latin typeface="+mn-lt"/>
                <a:ea typeface="+mn-ea"/>
                <a:cs typeface="+mn-cs"/>
              </a:rPr>
              <a:t>Zeroth Review</a:t>
            </a: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23" name="Slide Number Placeholder 22"/>
          <p:cNvSpPr>
            <a:spLocks noGrp="1"/>
          </p:cNvSpPr>
          <p:nvPr>
            <p:ph type="sldNum" sz="quarter" idx="4"/>
          </p:nvPr>
        </p:nvSpPr>
        <p:spPr>
          <a:xfrm>
            <a:off x="195263" y="6210300"/>
            <a:ext cx="609600" cy="457200"/>
          </a:xfrm>
          <a:prstGeom prst="ellipse">
            <a:avLst/>
          </a:prstGeom>
          <a:solidFill>
            <a:schemeClr val="bg2">
              <a:lumMod val="50000"/>
            </a:schemeClr>
          </a:solidFill>
          <a:ln>
            <a:solidFill>
              <a:schemeClr val="bg2">
                <a:lumMod val="50000"/>
              </a:schemeClr>
            </a:solidFill>
          </a:ln>
        </p:spPr>
        <p:txBody>
          <a:bodyPr vert="horz" wrap="none" lIns="0" tIns="0" rIns="0" bIns="0" numCol="1" anchor="ctr" anchorCtr="1" compatLnSpc="1">
            <a:noAutofit/>
          </a:bodyPr>
          <a:lstStyle>
            <a:lvl1pPr algn="ctr">
              <a:defRPr sz="1400">
                <a:solidFill>
                  <a:schemeClr val="bg1"/>
                </a:solidFill>
                <a:latin typeface="Century Gothic" panose="020B0502020202020204" pitchFamily="34" charset="0"/>
              </a:defRPr>
            </a:lvl1pPr>
          </a:lstStyle>
          <a:p>
            <a:pPr lvl="0" eaLnBrk="1" hangingPunct="1">
              <a:buNone/>
            </a:pPr>
            <a:fld id="{9A0DB2DC-4C9A-4742-B13C-FB6460FD3503}" type="slidenum">
              <a:rPr lang="en-US" altLang="en-US" dirty="0"/>
            </a:fld>
            <a:endParaRPr lang="en-US" altLang="en-US" dirty="0">
              <a:latin typeface="Palatino Linotype" panose="02040502050505030304" pitchFamily="18" charset="0"/>
            </a:endParaRPr>
          </a:p>
        </p:txBody>
      </p:sp>
      <p:sp>
        <p:nvSpPr>
          <p:cNvPr id="1030" name="Text Placeholder 12"/>
          <p:cNvSpPr>
            <a:spLocks noGrp="1"/>
          </p:cNvSpPr>
          <p:nvPr>
            <p:ph type="body" idx="1"/>
          </p:nvPr>
        </p:nvSpPr>
        <p:spPr>
          <a:xfrm>
            <a:off x="1219200" y="1447800"/>
            <a:ext cx="10363200" cy="4572000"/>
          </a:xfrm>
          <a:prstGeom prst="rect">
            <a:avLst/>
          </a:prstGeom>
          <a:noFill/>
          <a:ln w="9525">
            <a:noFill/>
          </a:ln>
        </p:spPr>
        <p:txBody>
          <a:bodyPr/>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31" name="Title Placeholder 21"/>
          <p:cNvSpPr>
            <a:spLocks noGrp="1"/>
          </p:cNvSpPr>
          <p:nvPr>
            <p:ph type="title"/>
          </p:nvPr>
        </p:nvSpPr>
        <p:spPr>
          <a:xfrm>
            <a:off x="1219200" y="274638"/>
            <a:ext cx="10363200" cy="1143000"/>
          </a:xfrm>
          <a:prstGeom prst="rect">
            <a:avLst/>
          </a:prstGeom>
          <a:noFill/>
          <a:ln w="9525">
            <a:noFill/>
          </a:ln>
        </p:spPr>
        <p:txBody>
          <a:bodyPr bIns="91440" anchor="b" anchorCtr="0"/>
          <a:lstStyle/>
          <a:p>
            <a:pPr lvl="0"/>
            <a:r>
              <a:rPr lang="en-US" altLang="en-US" dirty="0"/>
              <a:t>Click to edit Master title style</a:t>
            </a:r>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fade/>
  </p:transition>
  <p:hf sldNum="0" hdr="0" ft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Century Gothic" panose="020B0502020202020204" pitchFamily="34" charset="0"/>
        </a:defRPr>
      </a:lvl2pPr>
      <a:lvl3pPr algn="l" rtl="0" eaLnBrk="0" fontAlgn="base" hangingPunct="0">
        <a:spcBef>
          <a:spcPct val="0"/>
        </a:spcBef>
        <a:spcAft>
          <a:spcPct val="0"/>
        </a:spcAft>
        <a:defRPr sz="4000">
          <a:solidFill>
            <a:schemeClr val="tx2"/>
          </a:solidFill>
          <a:latin typeface="Century Gothic" panose="020B0502020202020204" pitchFamily="34" charset="0"/>
        </a:defRPr>
      </a:lvl3pPr>
      <a:lvl4pPr algn="l" rtl="0" eaLnBrk="0" fontAlgn="base" hangingPunct="0">
        <a:spcBef>
          <a:spcPct val="0"/>
        </a:spcBef>
        <a:spcAft>
          <a:spcPct val="0"/>
        </a:spcAft>
        <a:defRPr sz="4000">
          <a:solidFill>
            <a:schemeClr val="tx2"/>
          </a:solidFill>
          <a:latin typeface="Century Gothic" panose="020B0502020202020204" pitchFamily="34" charset="0"/>
        </a:defRPr>
      </a:lvl4pPr>
      <a:lvl5pPr algn="l" rtl="0" eaLnBrk="0" fontAlgn="base" hangingPunct="0">
        <a:spcBef>
          <a:spcPct val="0"/>
        </a:spcBef>
        <a:spcAft>
          <a:spcPct val="0"/>
        </a:spcAft>
        <a:defRPr sz="4000">
          <a:solidFill>
            <a:schemeClr val="tx2"/>
          </a:solidFill>
          <a:latin typeface="Century Gothic" panose="020B0502020202020204" pitchFamily="34" charset="0"/>
        </a:defRPr>
      </a:lvl5pPr>
      <a:lvl6pPr marL="457200" algn="l" rtl="0" fontAlgn="base">
        <a:spcBef>
          <a:spcPct val="0"/>
        </a:spcBef>
        <a:spcAft>
          <a:spcPct val="0"/>
        </a:spcAft>
        <a:defRPr sz="4000">
          <a:solidFill>
            <a:schemeClr val="tx2"/>
          </a:solidFill>
          <a:latin typeface="Century Gothic" panose="020B0502020202020204" pitchFamily="34" charset="0"/>
        </a:defRPr>
      </a:lvl6pPr>
      <a:lvl7pPr marL="914400" algn="l" rtl="0" fontAlgn="base">
        <a:spcBef>
          <a:spcPct val="0"/>
        </a:spcBef>
        <a:spcAft>
          <a:spcPct val="0"/>
        </a:spcAft>
        <a:defRPr sz="4000">
          <a:solidFill>
            <a:schemeClr val="tx2"/>
          </a:solidFill>
          <a:latin typeface="Century Gothic" panose="020B0502020202020204" pitchFamily="34" charset="0"/>
        </a:defRPr>
      </a:lvl7pPr>
      <a:lvl8pPr marL="1371600" algn="l" rtl="0" fontAlgn="base">
        <a:spcBef>
          <a:spcPct val="0"/>
        </a:spcBef>
        <a:spcAft>
          <a:spcPct val="0"/>
        </a:spcAft>
        <a:defRPr sz="4000">
          <a:solidFill>
            <a:schemeClr val="tx2"/>
          </a:solidFill>
          <a:latin typeface="Century Gothic" panose="020B0502020202020204" pitchFamily="34" charset="0"/>
        </a:defRPr>
      </a:lvl8pPr>
      <a:lvl9pPr marL="1828800" algn="l" rtl="0" fontAlgn="base">
        <a:spcBef>
          <a:spcPct val="0"/>
        </a:spcBef>
        <a:spcAft>
          <a:spcPct val="0"/>
        </a:spcAft>
        <a:defRPr sz="4000">
          <a:solidFill>
            <a:schemeClr val="tx2"/>
          </a:solidFill>
          <a:latin typeface="Century Gothic" panose="020B05020202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rotWithShape="0">
          <a:blip r:embed="rId1"/>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3038" y="3072714"/>
            <a:ext cx="11857037" cy="2710247"/>
          </a:xfrm>
        </p:spPr>
        <p:txBody>
          <a:bodyPr vert="horz" wrap="square" lIns="91440" tIns="45720" rIns="91440" bIns="45720" numCol="1" anchor="t" anchorCtr="0" compatLnSpc="1">
            <a:normAutofit fontScale="25000" lnSpcReduction="20000"/>
          </a:bodyPr>
          <a:lstStyle/>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endParaRPr kumimoji="0" lang="en-US" sz="4300" b="1" i="0" u="none" strike="noStrike" kern="1200" cap="none" spc="0" normalizeH="0" baseline="0" noProof="0" dirty="0">
              <a:ln>
                <a:noFill/>
              </a:ln>
              <a:solidFill>
                <a:schemeClr val="accent5">
                  <a:lumMod val="50000"/>
                </a:schemeClr>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endParaRPr lang="en-US" sz="7275" b="1" dirty="0">
              <a:solidFill>
                <a:srgbClr val="00B050"/>
              </a:solidFill>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5600" b="1" i="0" u="none" strike="noStrike" kern="1200" cap="none" spc="0" normalizeH="0" baseline="0" noProof="0" dirty="0">
                <a:ln>
                  <a:noFill/>
                </a:ln>
                <a:solidFill>
                  <a:srgbClr val="00B05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Presented by:</a:t>
            </a:r>
            <a:endParaRPr kumimoji="0" lang="en-US" sz="5600" b="1" i="0" u="none" strike="noStrike" kern="1200" cap="none" spc="0" normalizeH="0" baseline="0" noProof="0" dirty="0">
              <a:ln>
                <a:noFill/>
              </a:ln>
              <a:solidFill>
                <a:srgbClr val="00B05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5600" b="1"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sym typeface="+mn-ea"/>
              </a:rPr>
              <a:t>V.Vasavi(23491A5490)</a:t>
            </a:r>
            <a:endParaRPr kumimoji="0" lang="en-US" sz="5600" b="1" i="0" u="none" strike="noStrike" kern="1200" cap="none" spc="0" normalizeH="0" baseline="0" noProof="0" dirty="0">
              <a:ln>
                <a:noFill/>
              </a:ln>
              <a:solidFill>
                <a:srgbClr val="00B05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A.Pramod(23491A5492)</a:t>
            </a:r>
            <a:endPar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B.vidhyadhar(23491a5493)</a:t>
            </a:r>
            <a:endPar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Ch.santhosh(23491a5497)</a:t>
            </a:r>
            <a:endPar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algn="ct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D.vishnu(23491A54A0)</a:t>
            </a:r>
            <a:endPar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lvl="0" indent="0"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r>
              <a:rPr lang="en-US" sz="5600" b="1" dirty="0">
                <a:solidFill>
                  <a:schemeClr val="tx1">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a:t>
            </a:r>
            <a:r>
              <a:rPr kumimoji="0" lang="en-US" sz="5600" b="1" i="0" u="none" strike="noStrike" kern="1200" cap="none" spc="0" normalizeH="0" baseline="0" noProof="0" dirty="0">
                <a:ln>
                  <a:noFill/>
                </a:ln>
                <a:solidFill>
                  <a:schemeClr val="tx1">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K. Harikrishna(23491A54A7)</a:t>
            </a:r>
            <a:endParaRPr kumimoji="0" lang="en-US" sz="5600" b="1" i="1" u="none" strike="noStrike" kern="1200" cap="none" spc="0" normalizeH="0" noProof="0" dirty="0">
              <a:ln>
                <a:noFill/>
              </a:ln>
              <a:solidFill>
                <a:srgbClr val="00B05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0" marR="0" indent="0" algn="r" rtl="0" eaLnBrk="1" fontAlgn="auto" latinLnBrk="0" hangingPunct="1">
              <a:lnSpc>
                <a:spcPct val="120000"/>
              </a:lnSpc>
              <a:spcBef>
                <a:spcPts val="580"/>
              </a:spcBef>
              <a:buNone/>
            </a:pPr>
            <a:r>
              <a:rPr lang="en-US" sz="4400" b="1" i="1" kern="1200" spc="0" dirty="0">
                <a:ln>
                  <a:noFill/>
                </a:ln>
                <a:solidFill>
                  <a:srgbClr val="00B050"/>
                </a:solidFill>
                <a:effectLst/>
                <a:latin typeface="Times New Roman" panose="02020603050405020304" pitchFamily="18" charset="0"/>
                <a:ea typeface="Microsoft Sans Serif" panose="020B0604020202020204" pitchFamily="34" charset="0"/>
                <a:cs typeface="Times New Roman" panose="02020603050405020304" pitchFamily="18" charset="0"/>
              </a:rPr>
              <a:t>Under the Guidance of                                          </a:t>
            </a:r>
            <a:endParaRPr lang="en-US" sz="4400" dirty="0">
              <a:effectLst/>
            </a:endParaRPr>
          </a:p>
          <a:p>
            <a:pPr marL="0" marR="0" indent="0" algn="r" rtl="0" eaLnBrk="1" fontAlgn="auto" latinLnBrk="0" hangingPunct="1">
              <a:lnSpc>
                <a:spcPct val="120000"/>
              </a:lnSpc>
              <a:spcBef>
                <a:spcPts val="580"/>
              </a:spcBef>
              <a:buNone/>
            </a:pPr>
            <a:r>
              <a:rPr lang="en-US" sz="4400" b="1" i="1" dirty="0" err="1">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D</a:t>
            </a:r>
            <a:r>
              <a:rPr lang="en-US" sz="4400" b="1" i="1" dirty="0" err="1">
                <a:solidFill>
                  <a:srgbClr val="002060"/>
                </a:solidFill>
                <a:latin typeface="Times New Roman" panose="02020603050405020304" pitchFamily="18" charset="0"/>
                <a:ea typeface="Microsoft Sans Serif" panose="020B0604020202020204" pitchFamily="34" charset="0"/>
                <a:cs typeface="Times New Roman" panose="02020603050405020304" pitchFamily="18" charset="0"/>
              </a:rPr>
              <a:t>r.GUNA</a:t>
            </a:r>
            <a:endParaRPr lang="en-US" sz="4400" dirty="0">
              <a:effectLst/>
            </a:endParaRPr>
          </a:p>
          <a:p>
            <a:pPr marL="0" marR="0" indent="0" algn="r" rtl="0" eaLnBrk="1" fontAlgn="auto" latinLnBrk="0" hangingPunct="1">
              <a:lnSpc>
                <a:spcPct val="120000"/>
              </a:lnSpc>
              <a:spcBef>
                <a:spcPts val="580"/>
              </a:spcBef>
              <a:buNone/>
            </a:pPr>
            <a:r>
              <a:rPr lang="en-US" sz="4400" b="1" i="1" kern="1200" spc="0" dirty="0">
                <a:ln>
                  <a:noFill/>
                </a:ln>
                <a:solidFill>
                  <a:srgbClr val="002060"/>
                </a:solidFill>
                <a:effectLst/>
                <a:latin typeface="Times New Roman" panose="02020603050405020304" pitchFamily="18" charset="0"/>
                <a:ea typeface="Microsoft Sans Serif" panose="020B0604020202020204" pitchFamily="34" charset="0"/>
                <a:cs typeface="Times New Roman" panose="02020603050405020304" pitchFamily="18" charset="0"/>
              </a:rPr>
              <a:t>Assistant professor</a:t>
            </a:r>
            <a:endParaRPr lang="en-US" sz="4400" dirty="0">
              <a:effectLst/>
            </a:endParaRPr>
          </a:p>
          <a:p>
            <a:pPr marL="0" marR="0" indent="0" algn="r" rtl="0" eaLnBrk="1" fontAlgn="auto" latinLnBrk="0" hangingPunct="1">
              <a:lnSpc>
                <a:spcPct val="120000"/>
              </a:lnSpc>
              <a:spcBef>
                <a:spcPts val="580"/>
              </a:spcBef>
            </a:pPr>
            <a:r>
              <a:rPr lang="en-US" sz="4400" b="1" i="0" kern="1200" spc="0" dirty="0">
                <a:ln>
                  <a:noFill/>
                </a:ln>
                <a:solidFill>
                  <a:srgbClr val="242852"/>
                </a:solidFill>
                <a:effectLst/>
                <a:latin typeface="Times New Roman" panose="02020603050405020304" pitchFamily="18" charset="0"/>
                <a:ea typeface="Microsoft Sans Serif" panose="020B0604020202020204" pitchFamily="34" charset="0"/>
                <a:cs typeface="Times New Roman" panose="02020603050405020304" pitchFamily="18" charset="0"/>
              </a:rPr>
              <a:t>Department of Electronics and Communication  Engineering</a:t>
            </a:r>
            <a:endParaRPr lang="en-US" sz="4400" dirty="0">
              <a:effectLst/>
            </a:endParaRPr>
          </a:p>
          <a:p>
            <a:pPr marL="0" marR="0" lvl="0" indent="0" algn="r"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US" sz="3600" b="0" i="0" u="none" strike="noStrike" kern="1200" cap="none" spc="0" normalizeH="0" noProof="0" dirty="0">
              <a:ln>
                <a:noFill/>
              </a:ln>
              <a:solidFill>
                <a:schemeClr val="tx2"/>
              </a:solidFill>
              <a:effectLst/>
              <a:uLnTx/>
              <a:uFillTx/>
              <a:latin typeface="+mn-lt"/>
              <a:ea typeface="+mn-ea"/>
              <a:cs typeface="+mn-cs"/>
            </a:endParaRPr>
          </a:p>
          <a:p>
            <a:pPr marL="0" marR="0" lvl="0" indent="0" algn="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endParaRPr kumimoji="0" lang="en-US" sz="4800" b="0" i="0" u="none" strike="noStrike" kern="1200" cap="none" spc="0" normalizeH="0" noProof="0" dirty="0">
              <a:ln>
                <a:noFill/>
              </a:ln>
              <a:solidFill>
                <a:schemeClr val="tx2"/>
              </a:solidFill>
              <a:effectLst/>
              <a:uLnTx/>
              <a:uFillTx/>
              <a:latin typeface="Microsoft Sans Serif" panose="020B0604020202020204" pitchFamily="34" charset="0"/>
              <a:ea typeface="Microsoft Sans Serif" panose="020B0604020202020204" pitchFamily="34" charset="0"/>
              <a:cs typeface="Microsoft Sans Serif" panose="020B0604020202020204" pitchFamily="34" charset="0"/>
            </a:endParaRPr>
          </a:p>
          <a:p>
            <a:pPr marL="0" marR="0" lvl="0" indent="0" algn="r" defTabSz="914400" rtl="0" eaLnBrk="1" fontAlgn="auto" latinLnBrk="0" hangingPunct="1">
              <a:lnSpc>
                <a:spcPct val="100000"/>
              </a:lnSpc>
              <a:spcBef>
                <a:spcPts val="580"/>
              </a:spcBef>
              <a:spcAft>
                <a:spcPts val="0"/>
              </a:spcAft>
              <a:buClr>
                <a:schemeClr val="accent1"/>
              </a:buClr>
              <a:buSzPct val="85000"/>
              <a:buFont typeface="Wingdings 2" panose="05020102010507070707"/>
              <a:buNone/>
              <a:defRPr/>
            </a:pPr>
            <a:endParaRPr kumimoji="0" lang="en-US" sz="4800" b="0" i="0" u="none" strike="noStrike" kern="1200" cap="none" spc="0" normalizeH="0" noProof="0" dirty="0">
              <a:ln>
                <a:noFill/>
              </a:ln>
              <a:solidFill>
                <a:schemeClr val="tx2"/>
              </a:solidFill>
              <a:effectLst/>
              <a:uLnTx/>
              <a:uFillTx/>
              <a:latin typeface="+mn-lt"/>
              <a:ea typeface="+mn-ea"/>
              <a:cs typeface="+mn-cs"/>
            </a:endParaRPr>
          </a:p>
          <a:p>
            <a:pPr marL="0" marR="0" lvl="0" indent="0" algn="r" defTabSz="914400" rtl="0" eaLnBrk="1" fontAlgn="auto" latinLnBrk="0" hangingPunct="1">
              <a:lnSpc>
                <a:spcPct val="120000"/>
              </a:lnSpc>
              <a:spcBef>
                <a:spcPts val="580"/>
              </a:spcBef>
              <a:spcAft>
                <a:spcPts val="0"/>
              </a:spcAft>
              <a:buClr>
                <a:schemeClr val="accent1"/>
              </a:buClr>
              <a:buSzPct val="85000"/>
              <a:buFont typeface="Wingdings 2" panose="05020102010507070707"/>
              <a:buNone/>
              <a:defRPr/>
            </a:pPr>
            <a:endParaRPr kumimoji="0" lang="en-US" sz="2600" b="0" i="0" u="none" strike="noStrike" kern="1200" cap="none" spc="0" normalizeH="0" baseline="0" noProof="0" dirty="0">
              <a:ln>
                <a:noFill/>
              </a:ln>
              <a:solidFill>
                <a:schemeClr val="tx2"/>
              </a:solidFill>
              <a:effectLst/>
              <a:uLnTx/>
              <a:uFillTx/>
              <a:latin typeface="+mn-lt"/>
              <a:ea typeface="+mn-ea"/>
              <a:cs typeface="+mn-cs"/>
            </a:endParaRPr>
          </a:p>
        </p:txBody>
      </p:sp>
      <p:sp>
        <p:nvSpPr>
          <p:cNvPr id="9219" name="Title 1"/>
          <p:cNvSpPr>
            <a:spLocks noGrp="1"/>
          </p:cNvSpPr>
          <p:nvPr>
            <p:ph type="ctrTitle"/>
          </p:nvPr>
        </p:nvSpPr>
        <p:spPr>
          <a:xfrm>
            <a:off x="172720" y="996950"/>
            <a:ext cx="11857355" cy="2184789"/>
          </a:xfrm>
          <a:solidFill>
            <a:schemeClr val="accent1"/>
          </a:solidFill>
        </p:spPr>
        <p:txBody>
          <a:bodyPr vert="horz" wrap="square" lIns="91440" tIns="45720" rIns="91440" bIns="91440" anchor="ctr" anchorCtr="0"/>
          <a:lstStyle/>
          <a:p>
            <a:pPr eaLnBrk="1" hangingPunct="1"/>
            <a:br>
              <a:rPr lang="en-US" altLang="en-US" b="1" dirty="0">
                <a:latin typeface="Times New Roman" panose="02020603050405020304" pitchFamily="18" charset="0"/>
                <a:ea typeface="Microsoft Sans Serif" panose="020B0604020202020204" pitchFamily="34" charset="0"/>
              </a:rPr>
            </a:br>
            <a:r>
              <a:rPr lang="en-US" altLang="en-US" b="1" dirty="0">
                <a:latin typeface="Times New Roman" panose="02020603050405020304" pitchFamily="18" charset="0"/>
                <a:ea typeface="Microsoft Sans Serif" panose="020B0604020202020204" pitchFamily="34" charset="0"/>
              </a:rPr>
              <a:t>SMART TRAFFIC LIGHT</a:t>
            </a:r>
            <a:br>
              <a:rPr lang="en-US" altLang="en-US" b="1" dirty="0">
                <a:latin typeface="Times New Roman" panose="02020603050405020304" pitchFamily="18" charset="0"/>
                <a:ea typeface="Microsoft Sans Serif" panose="020B0604020202020204" pitchFamily="34" charset="0"/>
              </a:rPr>
            </a:br>
            <a:r>
              <a:rPr lang="en-US" altLang="en-US" b="1" dirty="0">
                <a:latin typeface="Times New Roman" panose="02020603050405020304" pitchFamily="18" charset="0"/>
                <a:ea typeface="Microsoft Sans Serif" panose="020B0604020202020204" pitchFamily="34" charset="0"/>
              </a:rPr>
              <a:t>MANAGEMENT SYSTEM</a:t>
            </a:r>
            <a:endParaRPr lang="en-US" altLang="en-US" b="1" kern="1200" dirty="0">
              <a:latin typeface="Times New Roman" panose="02020603050405020304" pitchFamily="18" charset="0"/>
              <a:ea typeface="Microsoft Sans Serif" panose="020B0604020202020204" pitchFamily="34" charset="0"/>
              <a:cs typeface="+mj-cs"/>
            </a:endParaRPr>
          </a:p>
        </p:txBody>
      </p:sp>
      <p:pic>
        <p:nvPicPr>
          <p:cNvPr id="9220" name="Picture 1"/>
          <p:cNvPicPr>
            <a:picLocks noChangeAspect="1"/>
          </p:cNvPicPr>
          <p:nvPr/>
        </p:nvPicPr>
        <p:blipFill>
          <a:blip r:embed="rId2"/>
          <a:stretch>
            <a:fillRect/>
          </a:stretch>
        </p:blipFill>
        <p:spPr>
          <a:xfrm>
            <a:off x="10920413" y="158750"/>
            <a:ext cx="981075" cy="838200"/>
          </a:xfrm>
          <a:prstGeom prst="rect">
            <a:avLst/>
          </a:prstGeom>
          <a:noFill/>
          <a:ln w="9525">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Date Placeholder 10"/>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13" name="Slide Number Placeholder 12"/>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3" name="Content Placeholder 2"/>
          <p:cNvSpPr>
            <a:spLocks noGrp="1"/>
          </p:cNvSpPr>
          <p:nvPr>
            <p:ph sz="quarter" idx="1"/>
          </p:nvPr>
        </p:nvSpPr>
        <p:spPr>
          <a:xfrm>
            <a:off x="1219200" y="1081088"/>
            <a:ext cx="9496425" cy="5072063"/>
          </a:xfrm>
        </p:spPr>
        <p:txBody>
          <a:bodyPr vert="horz" wrap="square" lIns="91440" tIns="45720" rIns="91440" bIns="45720" numCol="1" anchor="t" anchorCtr="0" compatLnSpc="1">
            <a:normAutofit fontScale="32500" lnSpcReduction="20000"/>
          </a:bodyPr>
          <a:lstStyle/>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endParaRPr kumimoji="0" lang="en-IN" sz="33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ABSTRACT</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INTRODUCTION</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LITERATURE REVIEW</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OBJECTIVE</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EXISTING METHOD</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PROPOSED METHOD</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US"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HARDWARE &amp; SOFTWARE INVOLVED</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ADVANTAGES AND APPLICATION</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457200" algn="l" defTabSz="914400" rtl="0" eaLnBrk="1" fontAlgn="auto" latinLnBrk="0" hangingPunct="1">
              <a:lnSpc>
                <a:spcPct val="120000"/>
              </a:lnSpc>
              <a:spcBef>
                <a:spcPts val="800"/>
              </a:spcBef>
              <a:spcAft>
                <a:spcPts val="800"/>
              </a:spcAft>
              <a:buClr>
                <a:schemeClr val="accent1"/>
              </a:buClr>
              <a:buSzPct val="85000"/>
              <a:buFont typeface="Wingdings" panose="05000000000000000000" pitchFamily="2" charset="2"/>
              <a:buChar char="q"/>
              <a:defRPr/>
            </a:pPr>
            <a:r>
              <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REFERENCES</a:t>
            </a:r>
            <a:endParaRPr kumimoji="0" lang="en-IN" sz="5600" b="0" i="0" u="none" strike="noStrike" kern="1200" cap="none" spc="0" normalizeH="0" baseline="0" noProof="0" dirty="0">
              <a:ln>
                <a:noFill/>
              </a:ln>
              <a:solidFill>
                <a:schemeClr val="tx1"/>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panose="05020102010507070707"/>
              <a:buChar char=""/>
              <a:defRPr/>
            </a:pPr>
            <a:endParaRPr kumimoji="0" lang="en-IN"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2" name="Title 1"/>
          <p:cNvSpPr>
            <a:spLocks noGrp="1"/>
          </p:cNvSpPr>
          <p:nvPr>
            <p:ph type="title"/>
          </p:nvPr>
        </p:nvSpPr>
        <p:spPr>
          <a:xfrm>
            <a:off x="358775" y="176213"/>
            <a:ext cx="11553825"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Outline</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j-ea"/>
              <a:cs typeface="Times New Roman" panose="02020603050405020304" pitchFamily="18" charset="0"/>
            </a:endParaRPr>
          </a:p>
        </p:txBody>
      </p:sp>
      <p:sp>
        <p:nvSpPr>
          <p:cNvPr id="11270"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pic>
        <p:nvPicPr>
          <p:cNvPr id="11271" name="Picture 4"/>
          <p:cNvPicPr>
            <a:picLocks noChangeAspect="1"/>
          </p:cNvPicPr>
          <p:nvPr/>
        </p:nvPicPr>
        <p:blipFill>
          <a:blip r:embed="rId1"/>
          <a:stretch>
            <a:fillRect/>
          </a:stretch>
        </p:blipFill>
        <p:spPr>
          <a:xfrm>
            <a:off x="10920413" y="158750"/>
            <a:ext cx="981075" cy="838200"/>
          </a:xfrm>
          <a:prstGeom prst="rect">
            <a:avLst/>
          </a:prstGeom>
          <a:noFill/>
          <a:ln w="9525">
            <a:noFill/>
          </a:ln>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a:xfrm>
            <a:off x="805180" y="1447800"/>
            <a:ext cx="10777220" cy="4634230"/>
          </a:xfrm>
        </p:spPr>
        <p:txBody>
          <a:bodyPr vert="horz" wrap="square" lIns="91440" tIns="45720" rIns="91440" bIns="45720" numCol="1" anchor="t" anchorCtr="0" compatLnSpc="1"/>
          <a:lstStyle/>
          <a:p>
            <a:pPr>
              <a:defRPr/>
            </a:pPr>
            <a:r>
              <a:rPr lang="en-US" altLang="en-US" sz="1800" dirty="0">
                <a:latin typeface="Times New Roman" panose="02020603050405020304" pitchFamily="18" charset="0"/>
                <a:cs typeface="Times New Roman" panose="02020603050405020304" pitchFamily="18" charset="0"/>
              </a:rPr>
              <a:t>Traffic congestion in urban areas has become one of the biggest challenges, leading to increased travel time, excessive fuel consumption, higher pollution levels, and stress for commuters.</a:t>
            </a:r>
            <a:endParaRPr lang="en-US" altLang="en-US" sz="1800" dirty="0">
              <a:latin typeface="Times New Roman" panose="02020603050405020304" pitchFamily="18" charset="0"/>
              <a:cs typeface="Times New Roman" panose="02020603050405020304" pitchFamily="18" charset="0"/>
            </a:endParaRPr>
          </a:p>
          <a:p>
            <a:pPr>
              <a:defRPr/>
            </a:pPr>
            <a:r>
              <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Conventional traffic management systems mostly depend on fixed timers and manual monitoring by traffic police, which fail to adapt to real-time traffic variations, causing inefficiency in handling peak-hour congestion.</a:t>
            </a:r>
            <a:endPar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a:defRPr/>
            </a:pPr>
            <a:r>
              <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overcome these challenges, a Smart Traffic Light Management System using is proposed, which can automatically learn and adapt according to real-time traffic conditions.</a:t>
            </a:r>
            <a:endPar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a:defRPr/>
            </a:pPr>
            <a:r>
              <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system integrates multiple data sources such as  IoT sensors, GPS devices, and mobile applications, providing continuous and updated traffic information.</a:t>
            </a:r>
            <a:endPar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a:defRPr/>
            </a:pPr>
            <a:r>
              <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models are trained to analyze vehicle density, traffic patterns, and road usage. Computer vision techniques process camera feeds to detect vehicles, accidents, and traffic violations, while machine learning algorithms predict future congestion trends and traffic hotspots.</a:t>
            </a:r>
            <a:endPar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a:defRPr/>
            </a:pPr>
            <a:r>
              <a:rPr kumimoji="0" lang="en-US" alt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Instead of static timers, the system applies adaptive signal control, where green-light duration is dynamically adjusted based on real-time traffic flow to reduce waiting times at intersections.</a:t>
            </a:r>
            <a:endParaRPr kumimoji="0" 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endParaRPr kumimoji="0" 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US"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Char char=""/>
              <a:defRPr/>
            </a:pPr>
            <a:endParaRPr kumimoji="0" lang="en-IN" sz="18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 name="Title 2"/>
          <p:cNvSpPr>
            <a:spLocks noGrp="1"/>
          </p:cNvSpPr>
          <p:nvPr>
            <p:ph type="title"/>
          </p:nvPr>
        </p:nvSpPr>
        <p:spPr>
          <a:xfrm>
            <a:off x="409575" y="284480"/>
            <a:ext cx="11172825" cy="1143000"/>
          </a:xfrm>
        </p:spPr>
        <p:txBody>
          <a:bodyPr vert="horz" wrap="square" lIns="91440" tIns="45720" rIns="91440" bIns="9144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Abstract</a:t>
            </a:r>
            <a:endParaRPr kumimoji="0" lang="en-IN"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4" name="Date Placeholder 3"/>
          <p:cNvSpPr txBox="1">
            <a:spLocks noGrp="1"/>
          </p:cNvSpPr>
          <p:nvPr>
            <p:ph type="dt" sz="half" idx="10"/>
          </p:nvPr>
        </p:nvSpPr>
        <p:spPr>
          <a:noFill/>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defRPr/>
            </a:pPr>
            <a:fld id="{C64BF6A4-4896-4B13-9E9F-995F0671C1E8}" type="datetime2">
              <a:rPr kumimoji="0" lang="en-US" sz="1400" b="0" i="0" u="none" strike="noStrike" kern="1200" cap="none" spc="0" normalizeH="0" baseline="0" noProof="0" smtClean="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pic>
        <p:nvPicPr>
          <p:cNvPr id="13318" name="Picture 6"/>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13319"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Date Placeholder 12"/>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15" name="Slide Number Placeholder 14"/>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2" name="Title 1"/>
          <p:cNvSpPr>
            <a:spLocks noGrp="1"/>
          </p:cNvSpPr>
          <p:nvPr>
            <p:ph type="title"/>
          </p:nvPr>
        </p:nvSpPr>
        <p:spPr>
          <a:xfrm>
            <a:off x="-327163" y="335902"/>
            <a:ext cx="11569020" cy="661048"/>
          </a:xfrm>
        </p:spPr>
        <p:txBody>
          <a:bodyPr vert="horz" wrap="square" lIns="91440" tIns="45720" rIns="91440" bIns="91440" numCol="1" anchor="b" anchorCtr="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b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Introduction</a:t>
            </a:r>
            <a:endParaRPr kumimoji="0" lang="en-IN"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14342" name="Picture 4"/>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14343"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 REVIEW - PROJECT VIVA-VOCE</a:t>
            </a:r>
            <a:endParaRPr lang="en-US" altLang="en-US" sz="1400" dirty="0">
              <a:solidFill>
                <a:schemeClr val="tx2"/>
              </a:solidFill>
            </a:endParaRPr>
          </a:p>
        </p:txBody>
      </p:sp>
      <p:sp>
        <p:nvSpPr>
          <p:cNvPr id="5" name="Content Placeholder 4"/>
          <p:cNvSpPr>
            <a:spLocks noGrp="1"/>
          </p:cNvSpPr>
          <p:nvPr>
            <p:ph sz="quarter" idx="1"/>
          </p:nvPr>
        </p:nvSpPr>
        <p:spPr>
          <a:xfrm>
            <a:off x="1168400" y="996315"/>
            <a:ext cx="10363200" cy="5079365"/>
          </a:xfrm>
        </p:spPr>
        <p:txBody>
          <a:bodyPr/>
          <a:lstStyle/>
          <a:p>
            <a:pPr marL="0" indent="0">
              <a:buNone/>
            </a:pPr>
            <a:endParaRPr lang="en-US" altLang="en-US" sz="1800" dirty="0"/>
          </a:p>
          <a:p>
            <a:r>
              <a:rPr lang="en-US" altLang="en-US" sz="2000" b="1" dirty="0">
                <a:latin typeface="Times New Roman" panose="02020603050405020304" pitchFamily="18" charset="0"/>
                <a:cs typeface="Times New Roman" panose="02020603050405020304" pitchFamily="18" charset="0"/>
              </a:rPr>
              <a:t>Domain:</a:t>
            </a:r>
            <a:r>
              <a:rPr lang="en-US" altLang="en-US" sz="20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The project falls within the domain of  Intelligent Transportation Systems (ITS) and Smart City Technologies, leveraging Internet of Things (IoT) to address urban traffic management challenges. It integrates advanced data analytics, machine learning, and real-time communication systems to enhance the efficiency, safety, and sustainability of transportation networks in urban environments.</a:t>
            </a:r>
            <a:endParaRPr lang="en-US" altLang="en-US" sz="1800" dirty="0">
              <a:latin typeface="Times New Roman" panose="02020603050405020304" pitchFamily="18" charset="0"/>
              <a:cs typeface="Times New Roman" panose="02020603050405020304" pitchFamily="18" charset="0"/>
            </a:endParaRPr>
          </a:p>
          <a:p>
            <a:endParaRPr lang="en-US" altLang="en-US" sz="18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Problem Statement:</a:t>
            </a:r>
            <a:r>
              <a:rPr lang="en-US" altLang="en-US" sz="1800" dirty="0">
                <a:latin typeface="Times New Roman" panose="02020603050405020304" pitchFamily="18" charset="0"/>
                <a:cs typeface="Times New Roman" panose="02020603050405020304" pitchFamily="18" charset="0"/>
              </a:rPr>
              <a:t> Rapid urbanization and the exponential growth of vehicular traffic have led to severe traffic congestion, prolonged travel times, increased road accidents, and elevated carbon emissions in cities worldwide. Traditional traffic management systems, reliant on fixed signal timings and manual interventions, are inadequate for handling dynamic traffic patterns and ensuring safety for vehicles, pedestrians, and cyclists. The lack of real-time adaptability and predictive capabilities results in inefficient traffic flow, higher fuel consumption, and environmental degradation. There is a critical need for an intelligent, scalable, and sustainable traffic management system that can dynamically optimize traffic flow, prioritize emergency services, enhance road safety, and reduce environmental impact in urban settings.</a:t>
            </a:r>
            <a:endParaRPr lang="en-US" altLang="en-US" sz="1800" dirty="0">
              <a:latin typeface="Times New Roman" panose="02020603050405020304" pitchFamily="18" charset="0"/>
              <a:cs typeface="Times New Roman" panose="02020603050405020304" pitchFamily="18" charset="0"/>
            </a:endParaRPr>
          </a:p>
          <a:p>
            <a:endParaRPr lang="en-US" altLang="en-US" sz="1800" dirty="0"/>
          </a:p>
          <a:p>
            <a:endParaRPr lang="en-US" altLang="en-US" sz="18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p:txBody>
          <a:bodyPr/>
          <a:lstStyle/>
          <a:p>
            <a:endParaRPr lang="en-US"/>
          </a:p>
        </p:txBody>
      </p:sp>
      <p:sp>
        <p:nvSpPr>
          <p:cNvPr id="3" name="Title 2"/>
          <p:cNvSpPr>
            <a:spLocks noGrp="1"/>
          </p:cNvSpPr>
          <p:nvPr>
            <p:ph type="title"/>
          </p:nvPr>
        </p:nvSpPr>
        <p:spPr>
          <a:xfrm>
            <a:off x="1219200" y="274955"/>
            <a:ext cx="10363200" cy="583565"/>
          </a:xfrm>
        </p:spPr>
        <p:txBody>
          <a:bodyPr/>
          <a:lstStyle/>
          <a:p>
            <a:r>
              <a:rPr lang="en-US">
                <a:latin typeface="Times New Roman" panose="02020603050405020304" pitchFamily="18" charset="0"/>
                <a:cs typeface="Times New Roman" panose="02020603050405020304" pitchFamily="18" charset="0"/>
              </a:rPr>
              <a:t>                       Literature survey</a:t>
            </a:r>
            <a:endParaRPr lang="en-US">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graphicFrame>
        <p:nvGraphicFramePr>
          <p:cNvPr id="11" name="Table 10"/>
          <p:cNvGraphicFramePr>
            <a:graphicFrameLocks noGrp="1"/>
          </p:cNvGraphicFramePr>
          <p:nvPr>
            <p:custDataLst>
              <p:tags r:id="rId1"/>
            </p:custDataLst>
          </p:nvPr>
        </p:nvGraphicFramePr>
        <p:xfrm>
          <a:off x="414020" y="858520"/>
          <a:ext cx="11426527" cy="5654248"/>
        </p:xfrm>
        <a:graphic>
          <a:graphicData uri="http://schemas.openxmlformats.org/drawingml/2006/table">
            <a:tbl>
              <a:tblPr>
                <a:tableStyleId>{5C22544A-7EE6-4342-B048-85BDC9FD1C3A}</a:tableStyleId>
              </a:tblPr>
              <a:tblGrid>
                <a:gridCol w="762569"/>
                <a:gridCol w="4497642"/>
                <a:gridCol w="1899791"/>
                <a:gridCol w="1844134"/>
                <a:gridCol w="2422391"/>
              </a:tblGrid>
              <a:tr h="783347">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Ref. No</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Title &amp; Author</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Technique Used</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Pros</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Cons</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r>
              <a:tr h="937030">
                <a:tc>
                  <a:txBody>
                    <a:bodyPr/>
                    <a:lstStyle/>
                    <a:p>
                      <a:pPr algn="ctr" fontAlgn="ctr"/>
                      <a:r>
                        <a:rPr lang="en-US" altLang="en-IN" sz="1200" b="0" i="0" u="none" strike="noStrike" dirty="0">
                          <a:solidFill>
                            <a:srgbClr val="000000"/>
                          </a:solidFill>
                          <a:effectLst/>
                          <a:latin typeface="Times New Roman" panose="02020603050405020304" pitchFamily="18" charset="0"/>
                          <a:cs typeface="Times New Roman" panose="02020603050405020304" pitchFamily="18" charset="0"/>
                        </a:rPr>
                        <a:t>1</a:t>
                      </a:r>
                      <a:endParaRPr lang="en-US" alt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sz="1200" b="1" kern="1200" dirty="0">
                          <a:solidFill>
                            <a:schemeClr val="dk1"/>
                          </a:solidFill>
                          <a:effectLst/>
                          <a:latin typeface="+mn-lt"/>
                          <a:ea typeface="+mn-ea"/>
                          <a:cs typeface="+mn-cs"/>
                        </a:rPr>
                        <a:t> </a:t>
                      </a:r>
                      <a:r>
                        <a:rPr lang="en-US" altLang="en-US" sz="1200" u="none" strike="noStrike" dirty="0">
                          <a:effectLst/>
                          <a:latin typeface="Times New Roman" panose="02020603050405020304" pitchFamily="18" charset="0"/>
                          <a:cs typeface="Times New Roman" panose="02020603050405020304" pitchFamily="18" charset="0"/>
                        </a:rPr>
                        <a:t>An Efficient Adaptive Traffic Light Control System for Urban Road Traffic Congestion Reduction in Smart Cities</a:t>
                      </a:r>
                      <a:endParaRPr lang="en-US" altLang="en-US" sz="1200" u="none" strike="noStrike" dirty="0">
                        <a:effectLst/>
                        <a:latin typeface="Times New Roman" panose="02020603050405020304" pitchFamily="18" charset="0"/>
                        <a:cs typeface="Times New Roman" panose="02020603050405020304" pitchFamily="18" charset="0"/>
                      </a:endParaRPr>
                    </a:p>
                    <a:p>
                      <a:pPr marL="0" marR="0" lvl="0" indent="0" algn="ctr" defTabSz="914400" rtl="0" eaLnBrk="1" fontAlgn="ctr" latinLnBrk="0" hangingPunct="1">
                        <a:lnSpc>
                          <a:spcPct val="100000"/>
                        </a:lnSpc>
                        <a:spcBef>
                          <a:spcPts val="0"/>
                        </a:spcBef>
                        <a:spcAft>
                          <a:spcPts val="0"/>
                        </a:spcAft>
                        <a:buClrTx/>
                        <a:buSzTx/>
                        <a:buFontTx/>
                        <a:buNone/>
                        <a:defRPr/>
                      </a:pPr>
                      <a:r>
                        <a:rPr lang="en-US" altLang="en-US" sz="1200" u="none" strike="noStrike" dirty="0">
                          <a:effectLst/>
                          <a:latin typeface="Times New Roman" panose="02020603050405020304" pitchFamily="18" charset="0"/>
                          <a:cs typeface="Times New Roman" panose="02020603050405020304" pitchFamily="18" charset="0"/>
                        </a:rPr>
                        <a:t>Authors: </a:t>
                      </a:r>
                      <a:r>
                        <a:rPr lang="en-US" altLang="en-US" sz="1200" b="0" i="0" u="none" strike="noStrike" dirty="0">
                          <a:solidFill>
                            <a:srgbClr val="000000"/>
                          </a:solidFill>
                          <a:effectLst/>
                          <a:latin typeface="Times New Roman" panose="02020603050405020304" pitchFamily="18" charset="0"/>
                          <a:cs typeface="Times New Roman" panose="02020603050405020304" pitchFamily="18" charset="0"/>
                        </a:rPr>
                        <a:t>Dex R. Aleko, Soufiene Djahel</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err="1"/>
                        <a:t>Keras</a:t>
                      </a:r>
                      <a:r>
                        <a:rPr lang="en-US" sz="1200" dirty="0"/>
                        <a:t>-based CNN with 4 layers</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200" dirty="0"/>
                        <a:t>- High accuracy (95%) </a:t>
                      </a:r>
                      <a:br>
                        <a:rPr lang="en-US" sz="1200" dirty="0"/>
                      </a:br>
                      <a:r>
                        <a:rPr lang="en-US" sz="1200" dirty="0"/>
                        <a:t>- GUI integration</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200" dirty="0"/>
                        <a:t>Dataset size limited (1000 images) </a:t>
                      </a:r>
                      <a:br>
                        <a:rPr lang="en-US" sz="1200" dirty="0"/>
                      </a:br>
                      <a:r>
                        <a:rPr lang="en-US" sz="1200" dirty="0"/>
                        <a:t>May not generalize to unseen note types</a:t>
                      </a:r>
                      <a:r>
                        <a:rPr lang="en-IN" sz="1200" dirty="0">
                          <a:effectLst/>
                          <a:latin typeface="Times New Roman" panose="02020603050405020304" pitchFamily="18" charset="0"/>
                          <a:cs typeface="Times New Roman" panose="02020603050405020304" pitchFamily="18" charset="0"/>
                          <a:sym typeface="+mn-ea"/>
                        </a:rPr>
                        <a:t> </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ctr" fontAlgn="ctr"/>
                      <a:r>
                        <a:rPr lang="en-IN" sz="1200" u="none" strike="noStrike" dirty="0">
                          <a:effectLst/>
                          <a:latin typeface="Times New Roman" panose="02020603050405020304" pitchFamily="18" charset="0"/>
                          <a:cs typeface="Times New Roman" panose="02020603050405020304" pitchFamily="18" charset="0"/>
                        </a:rPr>
                        <a:t> </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r h="937031">
                <a:tc>
                  <a:txBody>
                    <a:bodyPr/>
                    <a:lstStyle/>
                    <a:p>
                      <a:pPr algn="ctr" fontAlgn="ctr"/>
                      <a:r>
                        <a:rPr lang="en-US" altLang="en-IN" sz="1200" b="0" i="0" u="none" strike="noStrike" dirty="0">
                          <a:solidFill>
                            <a:srgbClr val="000000"/>
                          </a:solidFill>
                          <a:effectLst/>
                          <a:latin typeface="Times New Roman" panose="02020603050405020304" pitchFamily="18" charset="0"/>
                          <a:cs typeface="Times New Roman" panose="02020603050405020304" pitchFamily="18" charset="0"/>
                        </a:rPr>
                        <a:t>2</a:t>
                      </a:r>
                      <a:endParaRPr lang="en-US" alt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altLang="en-US" sz="1200" b="0" i="0" u="none" strike="noStrike" dirty="0">
                          <a:solidFill>
                            <a:srgbClr val="000000"/>
                          </a:solidFill>
                          <a:effectLst/>
                          <a:latin typeface="Times New Roman" panose="02020603050405020304" pitchFamily="18" charset="0"/>
                          <a:cs typeface="Times New Roman" panose="02020603050405020304" pitchFamily="18" charset="0"/>
                        </a:rPr>
                        <a:t>TitleSustainable Traffic Management for Smart Cities Using Internet-of-Things-Oriented Intelligent Transportation Systems (ITS): Challenges and Recommendations</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ctr" fontAlgn="ctr"/>
                      <a:r>
                        <a:rPr lang="en-US" altLang="en-US" sz="1200" b="0" i="0" u="none" strike="noStrike" dirty="0">
                          <a:solidFill>
                            <a:srgbClr val="000000"/>
                          </a:solidFill>
                          <a:effectLst/>
                          <a:latin typeface="Times New Roman" panose="02020603050405020304" pitchFamily="18" charset="0"/>
                          <a:cs typeface="Times New Roman" panose="02020603050405020304" pitchFamily="18" charset="0"/>
                        </a:rPr>
                        <a:t>Authors:Auwal Alhassan Musa</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200" dirty="0"/>
                        <a:t>CNN (</a:t>
                      </a:r>
                      <a:r>
                        <a:rPr lang="en-US" sz="1200" dirty="0" err="1"/>
                        <a:t>Keras</a:t>
                      </a:r>
                      <a:r>
                        <a:rPr lang="en-US" sz="1200" dirty="0"/>
                        <a:t> Sequential Model) with pre-processing and classification</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a:t>95% (fake), 98% (real) accuracy </a:t>
                      </a:r>
                      <a:br>
                        <a:rPr lang="en-US" sz="1200" dirty="0"/>
                      </a:br>
                      <a:r>
                        <a:rPr lang="en-US" sz="1200" dirty="0"/>
                        <a:t>- Deployed as web app</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a:t>Limited to predefined note types</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r h="1122778">
                <a:tc>
                  <a:txBody>
                    <a:bodyPr/>
                    <a:lstStyle/>
                    <a:p>
                      <a:pPr algn="ctr" fontAlgn="ctr"/>
                      <a:r>
                        <a:rPr lang="en-US" altLang="en-IN" sz="1200" b="0" i="0" u="none" strike="noStrike" dirty="0">
                          <a:solidFill>
                            <a:srgbClr val="000000"/>
                          </a:solidFill>
                          <a:effectLst/>
                          <a:latin typeface="Times New Roman" panose="02020603050405020304" pitchFamily="18" charset="0"/>
                          <a:cs typeface="Times New Roman" panose="02020603050405020304" pitchFamily="18" charset="0"/>
                        </a:rPr>
                        <a:t>3</a:t>
                      </a:r>
                      <a:endParaRPr lang="en-US" alt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altLang="en-US" sz="1200" u="none" strike="noStrike" dirty="0">
                          <a:effectLst/>
                          <a:latin typeface="Times New Roman" panose="02020603050405020304" pitchFamily="18" charset="0"/>
                          <a:cs typeface="Times New Roman" panose="02020603050405020304" pitchFamily="18" charset="0"/>
                        </a:rPr>
                        <a:t>An Intelligent IoT Based Traffic Light Management System: Deep Reinforcement Learning</a:t>
                      </a:r>
                      <a:endParaRPr lang="en-US" altLang="en-US" sz="1200" u="none" strike="noStrike" dirty="0">
                        <a:effectLst/>
                        <a:latin typeface="Times New Roman" panose="02020603050405020304" pitchFamily="18" charset="0"/>
                        <a:cs typeface="Times New Roman" panose="02020603050405020304" pitchFamily="18" charset="0"/>
                      </a:endParaRPr>
                    </a:p>
                    <a:p>
                      <a:pPr algn="ctr" fontAlgn="ctr"/>
                      <a:r>
                        <a:rPr lang="en-US" altLang="en-US" sz="1200" u="none" strike="noStrike" dirty="0">
                          <a:effectLst/>
                          <a:latin typeface="Times New Roman" panose="02020603050405020304" pitchFamily="18" charset="0"/>
                          <a:cs typeface="Times New Roman" panose="02020603050405020304" pitchFamily="18" charset="0"/>
                        </a:rPr>
                        <a:t>Authors: </a:t>
                      </a:r>
                      <a:r>
                        <a:rPr lang="en-US" altLang="en-US" sz="1200" b="0" i="0" u="none" strike="noStrike" dirty="0">
                          <a:solidFill>
                            <a:srgbClr val="000000"/>
                          </a:solidFill>
                          <a:effectLst/>
                          <a:latin typeface="Times New Roman" panose="02020603050405020304" pitchFamily="18" charset="0"/>
                          <a:cs typeface="Times New Roman" panose="02020603050405020304" pitchFamily="18" charset="0"/>
                        </a:rPr>
                        <a:t>Mojtaba Zourbakhsh</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a:t>CNN and VGG16 with grayscale, edge detection, and feature extraction</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a:t>Very high accuracy (98.43%) </a:t>
                      </a:r>
                      <a:br>
                        <a:rPr lang="en-US" sz="1200" dirty="0"/>
                      </a:br>
                      <a:r>
                        <a:rPr lang="en-US" sz="1200" dirty="0"/>
                        <a:t>- VGG16 used for high precision</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ctr" fontAlgn="ct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p>
                      <a:pPr algn="ctr" fontAlgn="ct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200" dirty="0"/>
                        <a:t>Computationally intensive (VGG16) </a:t>
                      </a:r>
                      <a:br>
                        <a:rPr lang="en-US" sz="1200" dirty="0"/>
                      </a:br>
                      <a:r>
                        <a:rPr lang="en-US" sz="1200" dirty="0"/>
                        <a:t>- May require GPU for real-time</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r h="751283">
                <a:tc>
                  <a:txBody>
                    <a:bodyPr/>
                    <a:lstStyle/>
                    <a:p>
                      <a:pPr algn="ctr" fontAlgn="ctr"/>
                      <a:r>
                        <a:rPr lang="en-US" altLang="en-IN" sz="1200" b="0" i="0" u="none" strike="noStrike" dirty="0">
                          <a:solidFill>
                            <a:srgbClr val="000000"/>
                          </a:solidFill>
                          <a:effectLst/>
                          <a:latin typeface="Times New Roman" panose="02020603050405020304" pitchFamily="18" charset="0"/>
                          <a:cs typeface="Times New Roman" panose="02020603050405020304" pitchFamily="18" charset="0"/>
                        </a:rPr>
                        <a:t>4</a:t>
                      </a:r>
                      <a:endParaRPr lang="en-US" alt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altLang="en-US" sz="1200" u="none" strike="noStrike" dirty="0">
                          <a:effectLst/>
                          <a:latin typeface="Times New Roman" panose="02020603050405020304" pitchFamily="18" charset="0"/>
                          <a:cs typeface="Times New Roman" panose="02020603050405020304" pitchFamily="18" charset="0"/>
                        </a:rPr>
                        <a:t>Optimized Sensor Network and Multi-Agent Decision Support for Smart Traffic Light Management</a:t>
                      </a:r>
                      <a:endParaRPr lang="en-US" altLang="en-US" sz="1200" u="none" strike="noStrike" dirty="0">
                        <a:effectLst/>
                        <a:latin typeface="Times New Roman" panose="02020603050405020304" pitchFamily="18" charset="0"/>
                        <a:cs typeface="Times New Roman" panose="02020603050405020304" pitchFamily="18" charset="0"/>
                      </a:endParaRPr>
                    </a:p>
                    <a:p>
                      <a:pPr algn="ctr" fontAlgn="ctr"/>
                      <a:r>
                        <a:rPr lang="en-US" altLang="en-US" sz="1200" u="none" strike="noStrike" dirty="0">
                          <a:effectLst/>
                          <a:latin typeface="Times New Roman" panose="02020603050405020304" pitchFamily="18" charset="0"/>
                          <a:cs typeface="Times New Roman" panose="02020603050405020304" pitchFamily="18" charset="0"/>
                        </a:rPr>
                        <a:t>Authors:</a:t>
                      </a:r>
                      <a:r>
                        <a:rPr lang="en-US" altLang="en-US" sz="1200" b="0" i="0" u="none" strike="noStrike" dirty="0">
                          <a:solidFill>
                            <a:srgbClr val="000000"/>
                          </a:solidFill>
                          <a:effectLst/>
                          <a:latin typeface="Times New Roman" panose="02020603050405020304" pitchFamily="18" charset="0"/>
                          <a:cs typeface="Times New Roman" panose="02020603050405020304" pitchFamily="18" charset="0"/>
                        </a:rPr>
                        <a:t>Ivan Marsa-Maestre</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a:t>CNN and VGG16 with grayscale, edge detection, and feature extraction</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a:t>Over 95% accuracy with VGG19 </a:t>
                      </a:r>
                      <a:br>
                        <a:rPr lang="en-US" sz="1200" dirty="0"/>
                      </a:br>
                      <a:r>
                        <a:rPr lang="en-US" sz="1200" dirty="0"/>
                        <a:t>- Augmentation for real-world data</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a:t>- Dataset diversity is a concern </a:t>
                      </a:r>
                      <a:br>
                        <a:rPr lang="en-US" sz="1200" dirty="0"/>
                      </a:br>
                      <a:r>
                        <a:rPr lang="en-US" sz="1200" dirty="0"/>
                        <a:t>- Older notes not well-supported</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r h="1122779">
                <a:tc>
                  <a:txBody>
                    <a:bodyPr/>
                    <a:lstStyle/>
                    <a:p>
                      <a:pPr algn="ctr" fontAlgn="ctr"/>
                      <a:r>
                        <a:rPr lang="en-US" altLang="en-IN" sz="1200" b="0" i="0" u="none" strike="noStrike" dirty="0">
                          <a:solidFill>
                            <a:srgbClr val="000000"/>
                          </a:solidFill>
                          <a:effectLst/>
                          <a:latin typeface="Times New Roman" panose="02020603050405020304" pitchFamily="18" charset="0"/>
                          <a:cs typeface="Times New Roman" panose="02020603050405020304" pitchFamily="18" charset="0"/>
                        </a:rPr>
                        <a:t>5</a:t>
                      </a:r>
                      <a:endParaRPr lang="en-US" alt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r>
                        <a:rPr lang="en-US" altLang="en-US" sz="1200" dirty="0"/>
                        <a:t>An Efficient Adaptive Traffic Light Control System for Urban Road Traffic Congestion Reduction in Smart Cities</a:t>
                      </a:r>
                      <a:endParaRPr lang="en-US" altLang="en-US" sz="1200" dirty="0"/>
                    </a:p>
                    <a:p>
                      <a:r>
                        <a:rPr lang="en-US" sz="1200" dirty="0"/>
                        <a:t>Authors:</a:t>
                      </a:r>
                      <a:r>
                        <a:rPr lang="en-US" altLang="en-US" sz="1200" dirty="0"/>
                        <a:t>Dex R. Aleko</a:t>
                      </a:r>
                      <a:endParaRPr lang="en-US" altLang="en-US" sz="1200" dirty="0"/>
                    </a:p>
                  </a:txBody>
                  <a:tcPr anchor="ctr"/>
                </a:tc>
                <a:tc>
                  <a:txBody>
                    <a:bodyPr/>
                    <a:lstStyle/>
                    <a:p>
                      <a:pPr algn="ctr" fontAlgn="ctr"/>
                      <a:r>
                        <a:rPr lang="en-IN" sz="1200" u="none" strike="noStrike" dirty="0">
                          <a:effectLst/>
                          <a:latin typeface="Times New Roman" panose="02020603050405020304" pitchFamily="18" charset="0"/>
                          <a:cs typeface="Times New Roman" panose="02020603050405020304" pitchFamily="18" charset="0"/>
                        </a:rPr>
                        <a:t> </a:t>
                      </a:r>
                      <a:r>
                        <a:rPr lang="en-US" sz="1200" dirty="0" err="1"/>
                        <a:t>MobileNet</a:t>
                      </a:r>
                      <a:r>
                        <a:rPr lang="en-US" sz="1200" dirty="0"/>
                        <a:t> for feature extraction, SVM &amp; Random Forest for classification</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200" dirty="0"/>
                        <a:t>High accuracy (97%) </a:t>
                      </a:r>
                      <a:br>
                        <a:rPr lang="en-IN" sz="1200" dirty="0"/>
                      </a:br>
                      <a:r>
                        <a:rPr lang="en-IN" sz="1200" dirty="0"/>
                        <a:t>- </a:t>
                      </a:r>
                      <a:r>
                        <a:rPr lang="en-IN" sz="1200" dirty="0" err="1"/>
                        <a:t>MobileNet</a:t>
                      </a:r>
                      <a:r>
                        <a:rPr lang="en-IN" sz="1200" dirty="0"/>
                        <a:t> + SVM/Random Forest hybrid models</a:t>
                      </a:r>
                      <a:endParaRPr lang="en-US" alt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200" dirty="0"/>
                        <a:t>Hybrid models slightly less accurate than </a:t>
                      </a:r>
                      <a:r>
                        <a:rPr lang="en-US" sz="1200" dirty="0" err="1"/>
                        <a:t>MobileNet</a:t>
                      </a:r>
                      <a:r>
                        <a:rPr lang="en-US" sz="1200" dirty="0"/>
                        <a:t> alone</a:t>
                      </a:r>
                      <a:r>
                        <a:rPr lang="en-IN" sz="1200" u="none" strike="noStrike" dirty="0">
                          <a:effectLst/>
                          <a:latin typeface="Times New Roman" panose="02020603050405020304" pitchFamily="18" charset="0"/>
                          <a:cs typeface="Times New Roman" panose="02020603050405020304" pitchFamily="18" charset="0"/>
                        </a:rPr>
                        <a:t> </a:t>
                      </a:r>
                      <a:endParaRPr lang="en-I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bl>
          </a:graphicData>
        </a:graphic>
      </p:graphicFrame>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p:txBody>
          <a:bodyPr/>
          <a:lstStyle/>
          <a:p>
            <a:endParaRPr lang="en-US"/>
          </a:p>
        </p:txBody>
      </p:sp>
      <p:sp>
        <p:nvSpPr>
          <p:cNvPr id="3" name="Title 2"/>
          <p:cNvSpPr>
            <a:spLocks noGrp="1"/>
          </p:cNvSpPr>
          <p:nvPr>
            <p:ph type="title"/>
          </p:nvPr>
        </p:nvSpPr>
        <p:spPr>
          <a:xfrm>
            <a:off x="1219200" y="226695"/>
            <a:ext cx="10363200" cy="613410"/>
          </a:xfrm>
        </p:spPr>
        <p:txBody>
          <a:bodyPr/>
          <a:lstStyle/>
          <a:p>
            <a:r>
              <a:rPr lang="en-US">
                <a:latin typeface="Times New Roman" panose="02020603050405020304" pitchFamily="18" charset="0"/>
                <a:cs typeface="Times New Roman" panose="02020603050405020304" pitchFamily="18" charset="0"/>
              </a:rPr>
              <a:t>                       Literature Survey</a:t>
            </a:r>
            <a:endParaRPr lang="en-US">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graphicFrame>
        <p:nvGraphicFramePr>
          <p:cNvPr id="11" name="Table 10"/>
          <p:cNvGraphicFramePr>
            <a:graphicFrameLocks noGrp="1"/>
          </p:cNvGraphicFramePr>
          <p:nvPr>
            <p:custDataLst>
              <p:tags r:id="rId1"/>
            </p:custDataLst>
          </p:nvPr>
        </p:nvGraphicFramePr>
        <p:xfrm>
          <a:off x="229871" y="774065"/>
          <a:ext cx="11639251" cy="6005316"/>
        </p:xfrm>
        <a:graphic>
          <a:graphicData uri="http://schemas.openxmlformats.org/drawingml/2006/table">
            <a:tbl>
              <a:tblPr>
                <a:tableStyleId>{5C22544A-7EE6-4342-B048-85BDC9FD1C3A}</a:tableStyleId>
              </a:tblPr>
              <a:tblGrid>
                <a:gridCol w="776495"/>
                <a:gridCol w="4581635"/>
                <a:gridCol w="1927091"/>
                <a:gridCol w="1886851"/>
                <a:gridCol w="2467179"/>
              </a:tblGrid>
              <a:tr h="1149105">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Ref. No</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Title &amp; Author</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Technique Used</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Pros</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2000" u="none" strike="noStrike">
                          <a:effectLst/>
                          <a:latin typeface="Times New Roman" panose="02020603050405020304" pitchFamily="18" charset="0"/>
                          <a:cs typeface="Times New Roman" panose="02020603050405020304" pitchFamily="18" charset="0"/>
                        </a:rPr>
                        <a:t>Cons</a:t>
                      </a:r>
                      <a:endParaRPr lang="en-IN" sz="2000" b="0" i="0" u="none" strike="noStrike">
                        <a:solidFill>
                          <a:srgbClr val="FFFFFF"/>
                        </a:solidFill>
                        <a:effectLst/>
                        <a:latin typeface="Times New Roman" panose="02020603050405020304" pitchFamily="18" charset="0"/>
                        <a:cs typeface="Times New Roman" panose="02020603050405020304" pitchFamily="18" charset="0"/>
                      </a:endParaRPr>
                    </a:p>
                  </a:txBody>
                  <a:tcPr marL="9524" marR="9524" marT="9524" marB="0" anchor="ctr"/>
                </a:tc>
              </a:tr>
              <a:tr h="885096">
                <a:tc>
                  <a:txBody>
                    <a:bodyPr/>
                    <a:lstStyle/>
                    <a:p>
                      <a:pPr algn="ctr" fontAlgn="ctr"/>
                      <a:r>
                        <a:rPr lang="en-IN" sz="1400" b="0" i="0" u="none" strike="noStrike" dirty="0">
                          <a:solidFill>
                            <a:srgbClr val="000000"/>
                          </a:solidFill>
                          <a:effectLst/>
                          <a:latin typeface="Times New Roman" panose="02020603050405020304" pitchFamily="18" charset="0"/>
                          <a:cs typeface="Times New Roman" panose="02020603050405020304" pitchFamily="18" charset="0"/>
                        </a:rPr>
                        <a:t>6</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r>
                        <a:rPr lang="en-US" altLang="en-US" sz="1400" b="0" dirty="0">
                          <a:latin typeface="Times New Roman" panose="02020603050405020304" pitchFamily="18" charset="0"/>
                          <a:cs typeface="Times New Roman" panose="02020603050405020304" pitchFamily="18" charset="0"/>
                        </a:rPr>
                        <a:t>Traffic signal control for smart cities using reinforcement learning</a:t>
                      </a:r>
                      <a:endParaRPr lang="en-US" altLang="en-US" sz="1400" b="0" dirty="0">
                        <a:latin typeface="Times New Roman" panose="02020603050405020304" pitchFamily="18" charset="0"/>
                        <a:cs typeface="Times New Roman" panose="02020603050405020304" pitchFamily="18" charset="0"/>
                      </a:endParaRPr>
                    </a:p>
                    <a:p>
                      <a:r>
                        <a:rPr lang="en-US" sz="1400" b="0" dirty="0">
                          <a:latin typeface="Times New Roman" panose="02020603050405020304" pitchFamily="18" charset="0"/>
                          <a:cs typeface="Times New Roman" panose="02020603050405020304" pitchFamily="18" charset="0"/>
                        </a:rPr>
                        <a:t>Author: </a:t>
                      </a:r>
                      <a:r>
                        <a:rPr lang="en-US" altLang="en-US" sz="1400" b="0" u="none" strike="noStrike" dirty="0">
                          <a:effectLst/>
                          <a:latin typeface="Times New Roman" panose="02020603050405020304" pitchFamily="18" charset="0"/>
                          <a:cs typeface="Times New Roman" panose="02020603050405020304" pitchFamily="18" charset="0"/>
                        </a:rPr>
                        <a:t>Hyunjin Joo</a:t>
                      </a:r>
                      <a:r>
                        <a:rPr lang="en-IN" sz="1400" b="0" u="none" strike="noStrike" dirty="0">
                          <a:effectLst/>
                          <a:latin typeface="Times New Roman" panose="02020603050405020304" pitchFamily="18" charset="0"/>
                          <a:cs typeface="Times New Roman" panose="02020603050405020304" pitchFamily="18" charset="0"/>
                        </a:rPr>
                        <a:t> </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IN" sz="1400" b="0" dirty="0">
                          <a:effectLst/>
                          <a:latin typeface="Times New Roman" panose="02020603050405020304" pitchFamily="18" charset="0"/>
                          <a:cs typeface="Times New Roman" panose="02020603050405020304" pitchFamily="18" charset="0"/>
                        </a:rPr>
                        <a:t>Image Acquisition</a:t>
                      </a:r>
                      <a:endParaRPr lang="en-IN" sz="1400" b="0" dirty="0">
                        <a:effectLst/>
                        <a:latin typeface="Times New Roman" panose="02020603050405020304" pitchFamily="18" charset="0"/>
                        <a:cs typeface="Times New Roman" panose="02020603050405020304" pitchFamily="18" charset="0"/>
                      </a:endParaRPr>
                    </a:p>
                    <a:p>
                      <a:pPr algn="ctr" fontAlgn="ct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IN" sz="1400" b="0" u="none" strike="noStrike" dirty="0">
                          <a:effectLst/>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Comprehensive </a:t>
                      </a:r>
                      <a:endParaRPr lang="en-US" alt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IN" sz="1400" b="0" dirty="0">
                          <a:latin typeface="Times New Roman" panose="02020603050405020304" pitchFamily="18" charset="0"/>
                          <a:cs typeface="Times New Roman" panose="02020603050405020304" pitchFamily="18" charset="0"/>
                        </a:rPr>
                        <a:t>Image-dependent</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r h="888138">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7</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r>
                        <a:rPr lang="en-US" altLang="en-US" sz="1400" b="0" dirty="0">
                          <a:latin typeface="Times New Roman" panose="02020603050405020304" pitchFamily="18" charset="0"/>
                          <a:cs typeface="Times New Roman" panose="02020603050405020304" pitchFamily="18" charset="0"/>
                        </a:rPr>
                        <a:t>Smart Traffic System using Machine Learning</a:t>
                      </a:r>
                      <a:endParaRPr lang="en-US" altLang="en-US" sz="1400" b="0" dirty="0">
                        <a:latin typeface="Times New Roman" panose="02020603050405020304" pitchFamily="18" charset="0"/>
                        <a:cs typeface="Times New Roman" panose="02020603050405020304" pitchFamily="18" charset="0"/>
                      </a:endParaRPr>
                    </a:p>
                    <a:p>
                      <a:r>
                        <a:rPr lang="en-US" sz="1400" b="0" dirty="0">
                          <a:latin typeface="Times New Roman" panose="02020603050405020304" pitchFamily="18" charset="0"/>
                          <a:cs typeface="Times New Roman" panose="02020603050405020304" pitchFamily="18" charset="0"/>
                        </a:rPr>
                        <a:t>Authors:</a:t>
                      </a:r>
                      <a:r>
                        <a:rPr lang="en-US" altLang="en-US" sz="1400" b="0" dirty="0">
                          <a:latin typeface="Times New Roman" panose="02020603050405020304" pitchFamily="18" charset="0"/>
                          <a:cs typeface="Times New Roman" panose="02020603050405020304" pitchFamily="18" charset="0"/>
                        </a:rPr>
                        <a:t>Utkarsh Baviskar</a:t>
                      </a:r>
                      <a:endParaRPr lang="en-US" altLang="en-US" sz="1400" b="0" dirty="0">
                        <a:latin typeface="Times New Roman" panose="02020603050405020304" pitchFamily="18" charset="0"/>
                        <a:cs typeface="Times New Roman" panose="02020603050405020304" pitchFamily="18" charset="0"/>
                      </a:endParaRPr>
                    </a:p>
                    <a:p>
                      <a:pPr algn="ctr" fontAlgn="ct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en-US" sz="1400" b="0" dirty="0">
                          <a:effectLst/>
                          <a:latin typeface="Times New Roman" panose="02020603050405020304" pitchFamily="18" charset="0"/>
                          <a:cs typeface="Times New Roman" panose="02020603050405020304" pitchFamily="18" charset="0"/>
                          <a:sym typeface="+mn-ea"/>
                        </a:rPr>
                        <a:t> </a:t>
                      </a:r>
                      <a:r>
                        <a:rPr lang="en-IN" sz="1400" b="0" dirty="0">
                          <a:effectLst/>
                          <a:latin typeface="Times New Roman" panose="02020603050405020304" pitchFamily="18" charset="0"/>
                          <a:cs typeface="Times New Roman" panose="02020603050405020304" pitchFamily="18" charset="0"/>
                        </a:rPr>
                        <a:t>MATLAB, preprocessing</a:t>
                      </a:r>
                      <a:endParaRPr lang="en-IN" sz="1400" b="0" dirty="0">
                        <a:effectLst/>
                        <a:latin typeface="Times New Roman" panose="02020603050405020304" pitchFamily="18" charset="0"/>
                        <a:cs typeface="Times New Roman" panose="02020603050405020304" pitchFamily="18" charset="0"/>
                      </a:endParaRPr>
                    </a:p>
                    <a:p>
                      <a:pPr algn="ctr" fontAlgn="ct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 Accurate</a:t>
                      </a:r>
                      <a:endParaRPr lang="en-US" altLang="en-US" sz="1400" b="0" i="0" u="none" strike="noStrike" dirty="0">
                        <a:solidFill>
                          <a:srgbClr val="000000"/>
                        </a:solidFill>
                        <a:effectLst/>
                        <a:latin typeface="Times New Roman" panose="02020603050405020304" pitchFamily="18" charset="0"/>
                        <a:cs typeface="Times New Roman" panose="02020603050405020304" pitchFamily="18" charset="0"/>
                      </a:endParaRPr>
                    </a:p>
                    <a:p>
                      <a:pPr algn="ctr" fontAlgn="ctr"/>
                      <a:endParaRPr lang="en-US" alt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Limited </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r h="886921">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8</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r>
                        <a:rPr kumimoji="0" lang="en-US" sz="1400" b="0" kern="1200" dirty="0">
                          <a:solidFill>
                            <a:schemeClr val="dk1"/>
                          </a:solidFill>
                          <a:effectLst/>
                          <a:latin typeface="Times New Roman" panose="02020603050405020304" pitchFamily="18" charset="0"/>
                          <a:ea typeface="+mn-ea"/>
                          <a:cs typeface="Times New Roman" panose="02020603050405020304" pitchFamily="18" charset="0"/>
                        </a:rPr>
                        <a:t> </a:t>
                      </a:r>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Smart traffic management system using IoT and machine learning approach</a:t>
                      </a:r>
                      <a:endPar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endParaRPr>
                    </a:p>
                    <a:p>
                      <a:r>
                        <a:rPr kumimoji="0" lang="en-US" sz="1400" b="0" kern="1200" dirty="0">
                          <a:solidFill>
                            <a:schemeClr val="dk1"/>
                          </a:solidFill>
                          <a:effectLst/>
                          <a:latin typeface="Times New Roman" panose="02020603050405020304" pitchFamily="18" charset="0"/>
                          <a:ea typeface="+mn-ea"/>
                          <a:cs typeface="Times New Roman" panose="02020603050405020304" pitchFamily="18" charset="0"/>
                        </a:rPr>
                        <a:t>Authors:</a:t>
                      </a:r>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Vishal Vikram</a:t>
                      </a:r>
                      <a:endPar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400" b="0" dirty="0">
                          <a:latin typeface="Times New Roman" panose="02020603050405020304" pitchFamily="18" charset="0"/>
                          <a:cs typeface="Times New Roman" panose="02020603050405020304" pitchFamily="18" charset="0"/>
                        </a:rPr>
                        <a:t>ORB, SSIM, bleed line</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400" b="0" dirty="0">
                          <a:latin typeface="Times New Roman" panose="02020603050405020304" pitchFamily="18" charset="0"/>
                          <a:cs typeface="Times New Roman" panose="02020603050405020304" pitchFamily="18" charset="0"/>
                        </a:rPr>
                        <a:t>Accessible</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Complex</a:t>
                      </a:r>
                      <a:r>
                        <a:rPr lang="en-IN" sz="1400" b="0" u="none" strike="noStrike" dirty="0">
                          <a:effectLst/>
                          <a:latin typeface="Times New Roman" panose="02020603050405020304" pitchFamily="18" charset="0"/>
                          <a:cs typeface="Times New Roman" panose="02020603050405020304" pitchFamily="18" charset="0"/>
                        </a:rPr>
                        <a:t>  </a:t>
                      </a:r>
                      <a:endParaRPr lang="en-US" alt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r h="897767">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9</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Fusion-based intelligent traffic congestion control system for vehicular networks using machine learning techniques</a:t>
                      </a:r>
                      <a:endPar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endParaRPr>
                    </a:p>
                    <a:p>
                      <a:r>
                        <a:rPr kumimoji="0" lang="en-US" sz="1400" b="0" kern="1200" dirty="0">
                          <a:solidFill>
                            <a:schemeClr val="dk1"/>
                          </a:solidFill>
                          <a:effectLst/>
                          <a:latin typeface="Times New Roman" panose="02020603050405020304" pitchFamily="18" charset="0"/>
                          <a:ea typeface="+mn-ea"/>
                          <a:cs typeface="Times New Roman" panose="02020603050405020304" pitchFamily="18" charset="0"/>
                        </a:rPr>
                        <a:t>Authors:</a:t>
                      </a:r>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Sagheer Abbas</a:t>
                      </a:r>
                      <a:br>
                        <a:rPr kumimoji="0" lang="en-US" sz="1400" b="0" kern="1200" dirty="0">
                          <a:solidFill>
                            <a:schemeClr val="dk1"/>
                          </a:solidFill>
                          <a:effectLst/>
                          <a:latin typeface="Times New Roman" panose="02020603050405020304" pitchFamily="18" charset="0"/>
                          <a:ea typeface="+mn-ea"/>
                          <a:cs typeface="Times New Roman" panose="02020603050405020304" pitchFamily="18" charset="0"/>
                        </a:rPr>
                      </a:br>
                      <a:endParaRPr kumimoji="0" lang="en-US" sz="1400" b="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r>
                        <a:rPr lang="en-IN" sz="1400" b="0" u="none" strike="noStrike" dirty="0">
                          <a:effectLst/>
                          <a:latin typeface="Times New Roman" panose="02020603050405020304" pitchFamily="18" charset="0"/>
                          <a:cs typeface="Times New Roman" panose="02020603050405020304" pitchFamily="18" charset="0"/>
                        </a:rPr>
                        <a:t> </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400" b="0" dirty="0">
                          <a:latin typeface="Times New Roman" panose="02020603050405020304" pitchFamily="18" charset="0"/>
                          <a:cs typeface="Times New Roman" panose="02020603050405020304" pitchFamily="18" charset="0"/>
                        </a:rPr>
                        <a:t>CNN, SVM, median filter</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 </a:t>
                      </a:r>
                      <a:r>
                        <a:rPr lang="en-US" sz="1400" b="0" dirty="0">
                          <a:latin typeface="Times New Roman" panose="02020603050405020304" pitchFamily="18" charset="0"/>
                          <a:cs typeface="Times New Roman" panose="02020603050405020304" pitchFamily="18" charset="0"/>
                        </a:rPr>
                        <a:t>Robust</a:t>
                      </a:r>
                      <a:endParaRPr lang="en-US" alt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400" b="0" dirty="0">
                          <a:latin typeface="Times New Roman" panose="02020603050405020304" pitchFamily="18" charset="0"/>
                          <a:cs typeface="Times New Roman" panose="02020603050405020304" pitchFamily="18" charset="0"/>
                        </a:rPr>
                        <a:t>Resource-heavy</a:t>
                      </a:r>
                      <a:endParaRPr lang="en-US" altLang="en-US" sz="1400" b="0" u="none" strike="noStrike" dirty="0">
                        <a:effectLst/>
                        <a:latin typeface="Times New Roman" panose="02020603050405020304" pitchFamily="18" charset="0"/>
                        <a:cs typeface="Times New Roman" panose="02020603050405020304" pitchFamily="18" charset="0"/>
                      </a:endParaRPr>
                    </a:p>
                  </a:txBody>
                  <a:tcPr marL="9524" marR="9524" marT="9524" marB="0" anchor="ctr"/>
                </a:tc>
              </a:tr>
              <a:tr h="1119732">
                <a:tc>
                  <a:txBody>
                    <a:bodyPr/>
                    <a:lstStyle/>
                    <a:p>
                      <a:pPr algn="ctr" fontAlgn="ctr"/>
                      <a:r>
                        <a:rPr lang="en-IN" sz="1400" b="0" u="none" strike="noStrike" dirty="0">
                          <a:effectLst/>
                          <a:latin typeface="Times New Roman" panose="02020603050405020304" pitchFamily="18" charset="0"/>
                          <a:cs typeface="Times New Roman" panose="02020603050405020304" pitchFamily="18" charset="0"/>
                        </a:rPr>
                        <a:t>10</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An IoT Application in a Smart Traffic Management</a:t>
                      </a:r>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 </a:t>
                      </a:r>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System</a:t>
                      </a:r>
                      <a:endPar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endParaRPr>
                    </a:p>
                    <a:p>
                      <a:r>
                        <a:rPr kumimoji="0" lang="en-US" sz="1400" b="0" kern="1200" dirty="0">
                          <a:solidFill>
                            <a:schemeClr val="dk1"/>
                          </a:solidFill>
                          <a:effectLst/>
                          <a:latin typeface="Times New Roman" panose="02020603050405020304" pitchFamily="18" charset="0"/>
                          <a:ea typeface="+mn-ea"/>
                          <a:cs typeface="Times New Roman" panose="02020603050405020304" pitchFamily="18" charset="0"/>
                        </a:rPr>
                        <a:t>Authors:</a:t>
                      </a:r>
                      <a:r>
                        <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rPr>
                        <a:t>Shailesh Shivajirao Bhise</a:t>
                      </a:r>
                      <a:endParaRPr kumimoji="0" lang="en-US" altLang="en-US" sz="1400" b="0" kern="1200" dirty="0">
                        <a:solidFill>
                          <a:schemeClr val="dk1"/>
                        </a:solidFill>
                        <a:effectLst/>
                        <a:latin typeface="Times New Roman" panose="02020603050405020304" pitchFamily="18" charset="0"/>
                        <a:ea typeface="+mn-ea"/>
                        <a:cs typeface="Times New Roman" panose="02020603050405020304" pitchFamily="18" charset="0"/>
                      </a:endParaRPr>
                    </a:p>
                    <a:p>
                      <a:pPr algn="ctr" fontAlgn="ct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400" b="0" dirty="0">
                          <a:latin typeface="Times New Roman" panose="02020603050405020304" pitchFamily="18" charset="0"/>
                          <a:cs typeface="Times New Roman" panose="02020603050405020304" pitchFamily="18" charset="0"/>
                        </a:rPr>
                        <a:t>Template matching, feature scoring</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400" b="0" dirty="0">
                          <a:latin typeface="Times New Roman" panose="02020603050405020304" pitchFamily="18" charset="0"/>
                          <a:cs typeface="Times New Roman" panose="02020603050405020304" pitchFamily="18" charset="0"/>
                        </a:rPr>
                        <a:t> Precise </a:t>
                      </a:r>
                      <a:endParaRPr lang="en-US" altLang="en-US"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c>
                  <a:txBody>
                    <a:bodyPr/>
                    <a:lstStyle/>
                    <a:p>
                      <a:pPr algn="ctr" fontAlgn="ctr"/>
                      <a:r>
                        <a:rPr lang="en-US" sz="1400" b="0" dirty="0">
                          <a:latin typeface="Times New Roman" panose="02020603050405020304" pitchFamily="18" charset="0"/>
                          <a:cs typeface="Times New Roman" panose="02020603050405020304" pitchFamily="18" charset="0"/>
                        </a:rPr>
                        <a:t>Inflexible</a:t>
                      </a:r>
                      <a:r>
                        <a:rPr lang="en-IN" sz="1400" b="0" u="none" strike="noStrike" dirty="0">
                          <a:effectLst/>
                          <a:latin typeface="Times New Roman" panose="02020603050405020304" pitchFamily="18" charset="0"/>
                          <a:cs typeface="Times New Roman" panose="02020603050405020304" pitchFamily="18" charset="0"/>
                        </a:rPr>
                        <a:t> </a:t>
                      </a:r>
                      <a:endParaRPr lang="en-IN" sz="14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4" marR="9524" marT="9524" marB="0" anchor="ctr"/>
                </a:tc>
              </a:tr>
            </a:tbl>
          </a:graphicData>
        </a:graphic>
      </p:graphicFrame>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19200" y="274955"/>
            <a:ext cx="10363200" cy="750570"/>
          </a:xfrm>
        </p:spPr>
        <p:txBody>
          <a:bodyPr/>
          <a:lstStyle/>
          <a:p>
            <a:r>
              <a:rPr lang="en-US"/>
              <a:t>                      </a:t>
            </a:r>
            <a:r>
              <a:rPr lang="en-US">
                <a:latin typeface="Times New Roman" panose="02020603050405020304" pitchFamily="18" charset="0"/>
                <a:cs typeface="Times New Roman" panose="02020603050405020304" pitchFamily="18" charset="0"/>
              </a:rPr>
              <a:t>Literature survey</a:t>
            </a:r>
            <a:endParaRPr lang="en-US">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5" name="Text Box 4"/>
          <p:cNvSpPr txBox="1"/>
          <p:nvPr/>
        </p:nvSpPr>
        <p:spPr>
          <a:xfrm>
            <a:off x="1629410" y="2471420"/>
            <a:ext cx="4064000" cy="368300"/>
          </a:xfrm>
          <a:prstGeom prst="rect">
            <a:avLst/>
          </a:prstGeom>
          <a:noFill/>
          <a:ln>
            <a:solidFill>
              <a:schemeClr val="bg2"/>
            </a:solidFill>
          </a:ln>
        </p:spPr>
        <p:txBody>
          <a:bodyPr wrap="square" rtlCol="0" anchor="ctr" anchorCtr="1">
            <a:spAutoFit/>
          </a:bodyPr>
          <a:lstStyle/>
          <a:p>
            <a:endParaRPr lang="en-US" dirty="0"/>
          </a:p>
        </p:txBody>
      </p:sp>
      <p:graphicFrame>
        <p:nvGraphicFramePr>
          <p:cNvPr id="6" name="Google Shape;189;p23"/>
          <p:cNvGraphicFramePr/>
          <p:nvPr>
            <p:custDataLst>
              <p:tags r:id="rId1"/>
            </p:custDataLst>
          </p:nvPr>
        </p:nvGraphicFramePr>
        <p:xfrm>
          <a:off x="683260" y="1025525"/>
          <a:ext cx="11047095" cy="5641340"/>
        </p:xfrm>
        <a:graphic>
          <a:graphicData uri="http://schemas.openxmlformats.org/drawingml/2006/table">
            <a:tbl>
              <a:tblPr>
                <a:noFill/>
                <a:tableStyleId>{BCE9D305-B1F9-4450-9F5A-3FB3B07BF5B3}</a:tableStyleId>
              </a:tblPr>
              <a:tblGrid>
                <a:gridCol w="715645"/>
                <a:gridCol w="4218940"/>
                <a:gridCol w="1772285"/>
                <a:gridCol w="1738630"/>
                <a:gridCol w="2601595"/>
              </a:tblGrid>
              <a:tr h="1161415">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Ref. No</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Title &amp; Author</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Technique Used</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Pros</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Cons</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r h="895985">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11</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Smart Traffic Management System Using </a:t>
                      </a:r>
                      <a:endPar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Internet of Things</a:t>
                      </a:r>
                      <a:r>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Author:</a:t>
                      </a: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Sabeen Javaids</a:t>
                      </a:r>
                      <a:endPar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I</a:t>
                      </a:r>
                      <a:r>
                        <a:rPr lang="en-IN" sz="1200" b="0" dirty="0" err="1">
                          <a:latin typeface="Times New Roman" panose="02020603050405020304" pitchFamily="18" charset="0"/>
                          <a:cs typeface="Times New Roman" panose="02020603050405020304" pitchFamily="18" charset="0"/>
                        </a:rPr>
                        <a:t>oT</a:t>
                      </a:r>
                      <a:r>
                        <a:rPr lang="en-IN" sz="1200" b="0" dirty="0">
                          <a:latin typeface="Times New Roman" panose="02020603050405020304" pitchFamily="18" charset="0"/>
                          <a:cs typeface="Times New Roman" panose="02020603050405020304" pitchFamily="18" charset="0"/>
                        </a:rPr>
                        <a:t>, AI algorithms, cameras, sensors, RFID</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IN" sz="1200" dirty="0">
                          <a:latin typeface="Times New Roman" panose="02020603050405020304" pitchFamily="18" charset="0"/>
                          <a:cs typeface="Times New Roman" panose="02020603050405020304" pitchFamily="18" charset="0"/>
                        </a:rPr>
                        <a:t>Reliable</a:t>
                      </a:r>
                      <a:endParaRPr lang="en-US" sz="1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IN" sz="1200" dirty="0">
                          <a:latin typeface="Times New Roman" panose="02020603050405020304" pitchFamily="18" charset="0"/>
                          <a:cs typeface="Times New Roman" panose="02020603050405020304" pitchFamily="18" charset="0"/>
                        </a:rPr>
                        <a:t> Vulnerable</a:t>
                      </a:r>
                      <a:r>
                        <a:rPr lang="en-US" sz="1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12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r h="895985">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12</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Smart Traffic Light Control System</a:t>
                      </a:r>
                      <a:endPar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Authors: Khaled ElKhatib Bilal Ghazal</a:t>
                      </a: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IN" sz="1200" dirty="0">
                          <a:latin typeface="Times New Roman" panose="02020603050405020304" pitchFamily="18" charset="0"/>
                          <a:cs typeface="Times New Roman" panose="02020603050405020304" pitchFamily="18" charset="0"/>
                        </a:rPr>
                        <a:t>PIC microcontroller, IR sensors</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IN" sz="1200" dirty="0">
                          <a:latin typeface="Times New Roman" panose="02020603050405020304" pitchFamily="18" charset="0"/>
                          <a:cs typeface="Times New Roman" panose="02020603050405020304" pitchFamily="18" charset="0"/>
                        </a:rPr>
                        <a:t>Dynamic</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IN" sz="1200" dirty="0">
                          <a:latin typeface="Times New Roman" panose="02020603050405020304" pitchFamily="18" charset="0"/>
                          <a:cs typeface="Times New Roman" panose="02020603050405020304" pitchFamily="18" charset="0"/>
                        </a:rPr>
                        <a:t>Outdated</a:t>
                      </a:r>
                      <a:r>
                        <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r h="895985">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13</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Traffic Management system and Traffic Light Control in Smart City to Reduce Traffic Congestion</a:t>
                      </a:r>
                      <a:endPar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Authors: Ali Wided</a:t>
                      </a:r>
                      <a:endPar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200" dirty="0">
                          <a:latin typeface="Times New Roman" panose="02020603050405020304" pitchFamily="18" charset="0"/>
                          <a:cs typeface="Times New Roman" panose="02020603050405020304" pitchFamily="18" charset="0"/>
                        </a:rPr>
                        <a:t>Sensors, scheduling algorithms, traffic simulator</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US" sz="1200" dirty="0">
                          <a:latin typeface="Times New Roman" panose="02020603050405020304" pitchFamily="18" charset="0"/>
                          <a:cs typeface="Times New Roman" panose="02020603050405020304" pitchFamily="18" charset="0"/>
                        </a:rPr>
                        <a:t>Effective</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dirty="0">
                          <a:latin typeface="Times New Roman" panose="02020603050405020304" pitchFamily="18" charset="0"/>
                          <a:cs typeface="Times New Roman" panose="02020603050405020304" pitchFamily="18" charset="0"/>
                        </a:rPr>
                        <a:t>Simulation-based</a:t>
                      </a:r>
                      <a:r>
                        <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r h="895985">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14</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Design and implementation of smart traffic controlling system Authors: S.Shenbagavalli</a:t>
                      </a: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IN" sz="1200" dirty="0">
                          <a:latin typeface="Times New Roman" panose="02020603050405020304" pitchFamily="18" charset="0"/>
                          <a:cs typeface="Times New Roman" panose="02020603050405020304" pitchFamily="18" charset="0"/>
                        </a:rPr>
                        <a:t>RF communication, PIC Arduino microcontroller</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r>
                        <a:rPr lang="en-IN" sz="1200" dirty="0">
                          <a:latin typeface="Times New Roman" panose="02020603050405020304" pitchFamily="18" charset="0"/>
                          <a:cs typeface="Times New Roman" panose="02020603050405020304" pitchFamily="18" charset="0"/>
                        </a:rPr>
                        <a:t>Prioritizing</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IN" sz="1200" dirty="0">
                          <a:latin typeface="Times New Roman" panose="02020603050405020304" pitchFamily="18" charset="0"/>
                          <a:cs typeface="Times New Roman" panose="02020603050405020304" pitchFamily="18" charset="0"/>
                        </a:rPr>
                        <a:t>Limited-scope</a:t>
                      </a:r>
                      <a:r>
                        <a:rPr lang="en-US"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20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r h="895985">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15</a:t>
                      </a:r>
                      <a:endParaRPr lang="en-US" sz="20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Traffic management system using smart sensor network </a:t>
                      </a:r>
                      <a:endPar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2000"/>
                        <a:buFont typeface="Times New Roman" panose="02020603050405020304"/>
                        <a:buNone/>
                      </a:pPr>
                      <a:r>
                        <a:rPr lang="en-US" alt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Authors: Suparth Jain</a:t>
                      </a:r>
                      <a:r>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endPar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dirty="0">
                          <a:latin typeface="Times New Roman" panose="02020603050405020304" pitchFamily="18" charset="0"/>
                          <a:cs typeface="Times New Roman" panose="02020603050405020304" pitchFamily="18" charset="0"/>
                        </a:rPr>
                        <a:t>Smart sensors, AI, deep learning, computer vision</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dirty="0">
                          <a:latin typeface="Times New Roman" panose="02020603050405020304" pitchFamily="18" charset="0"/>
                          <a:cs typeface="Times New Roman" panose="02020603050405020304" pitchFamily="18" charset="0"/>
                        </a:rPr>
                        <a:t> Autonomous</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c>
                  <a:txBody>
                    <a:bodyPr/>
                    <a:lstStyle/>
                    <a:p>
                      <a:pPr marL="0" marR="0" lvl="0" indent="0" algn="ctr" rtl="0">
                        <a:lnSpc>
                          <a:spcPct val="100000"/>
                        </a:lnSpc>
                        <a:spcBef>
                          <a:spcPts val="0"/>
                        </a:spcBef>
                        <a:spcAft>
                          <a:spcPts val="0"/>
                        </a:spcAft>
                        <a:buClr>
                          <a:srgbClr val="000000"/>
                        </a:buClr>
                        <a:buSzPts val="2000"/>
                        <a:buFont typeface="Times New Roman" panose="02020603050405020304"/>
                        <a:buNone/>
                      </a:pPr>
                      <a:r>
                        <a:rPr lang="en-US" sz="1200" dirty="0">
                          <a:latin typeface="Times New Roman" panose="02020603050405020304" pitchFamily="18" charset="0"/>
                          <a:cs typeface="Times New Roman" panose="02020603050405020304" pitchFamily="18" charset="0"/>
                        </a:rPr>
                        <a:t> Pre-2020</a:t>
                      </a:r>
                      <a:r>
                        <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sz="12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525" marR="9525" marT="9525" marB="0"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9EAF1"/>
                    </a:solidFill>
                  </a:tcPr>
                </a:tc>
              </a:tr>
            </a:tbl>
          </a:graphicData>
        </a:graphic>
      </p:graphicFrame>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12"/>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15" name="Slide Number Placeholder 14"/>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2" name="Title 1"/>
          <p:cNvSpPr>
            <a:spLocks noGrp="1"/>
          </p:cNvSpPr>
          <p:nvPr>
            <p:ph type="title"/>
          </p:nvPr>
        </p:nvSpPr>
        <p:spPr>
          <a:xfrm>
            <a:off x="944563" y="228600"/>
            <a:ext cx="10363200" cy="8382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Motivation</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18438" name="Picture 3"/>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18439"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
        <p:nvSpPr>
          <p:cNvPr id="7" name="Content Placeholder 6"/>
          <p:cNvSpPr>
            <a:spLocks noGrp="1"/>
          </p:cNvSpPr>
          <p:nvPr>
            <p:ph sz="quarter" idx="1"/>
          </p:nvPr>
        </p:nvSpPr>
        <p:spPr>
          <a:xfrm>
            <a:off x="1219200" y="1153160"/>
            <a:ext cx="10363200" cy="4937760"/>
          </a:xfrm>
        </p:spPr>
        <p:txBody>
          <a:bodyPr/>
          <a:lstStyle/>
          <a:p>
            <a:r>
              <a:rPr lang="en-US" altLang="en-US" sz="2000" b="1" dirty="0">
                <a:latin typeface="Times New Roman" panose="02020603050405020304" pitchFamily="18" charset="0"/>
                <a:cs typeface="Times New Roman" panose="02020603050405020304" pitchFamily="18" charset="0"/>
              </a:rPr>
              <a:t>Urban Challenges:</a:t>
            </a:r>
            <a:r>
              <a:rPr lang="en-US" altLang="en-US" sz="1800" dirty="0">
                <a:latin typeface="Times New Roman" panose="02020603050405020304" pitchFamily="18" charset="0"/>
                <a:cs typeface="Times New Roman" panose="02020603050405020304" pitchFamily="18" charset="0"/>
              </a:rPr>
              <a:t> Mitigate congestion and pollution in rapidly urbanizing cities (68% global population by 2050).</a:t>
            </a:r>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Tech Innovation:</a:t>
            </a:r>
            <a:r>
              <a:rPr lang="en-US" altLang="en-US" sz="1800" dirty="0">
                <a:latin typeface="Times New Roman" panose="02020603050405020304" pitchFamily="18" charset="0"/>
                <a:cs typeface="Times New Roman" panose="02020603050405020304" pitchFamily="18" charset="0"/>
              </a:rPr>
              <a:t> Utilize  IoT for real-time, adaptive traffic management.</a:t>
            </a:r>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Social Good:</a:t>
            </a:r>
            <a:r>
              <a:rPr lang="en-US" altLang="en-US" sz="1800" dirty="0">
                <a:latin typeface="Times New Roman" panose="02020603050405020304" pitchFamily="18" charset="0"/>
                <a:cs typeface="Times New Roman" panose="02020603050405020304" pitchFamily="18" charset="0"/>
              </a:rPr>
              <a:t> Improve travel efficiency, safety, and sustainability for smarter cities.</a:t>
            </a:r>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Personal Growth: </a:t>
            </a:r>
            <a:r>
              <a:rPr lang="en-US" altLang="en-US" sz="1800" dirty="0">
                <a:latin typeface="Times New Roman" panose="02020603050405020304" pitchFamily="18" charset="0"/>
                <a:cs typeface="Times New Roman" panose="02020603050405020304" pitchFamily="18" charset="0"/>
              </a:rPr>
              <a:t>Gain hands-on experience in cutting-edge AI and ITS for career advancement.</a:t>
            </a:r>
            <a:endParaRPr lang="en-US" altLang="en-US" sz="18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Research gap</a:t>
            </a:r>
            <a:endParaRPr lang="en-IN" sz="2000" b="1"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Despite advancements in  traffic systems, several key research gaps remain, particularly in handling real-world complexities of urban environments as of 2025. These gaps highlight opportunities for the proposed STMS to innovate in data integration, adaptability, and sustainability.</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Incomplete Data Handling and Sensor Reliability: Current systems often face challenges with missing or low-quality traffic data due to sensor failures, communication dropouts, or harsh environmental conditions, leading to inaccurate predictions and suboptimal congestion management. This gap affects emergency planning and overall system reliability in dynamic urban settings.</a:t>
            </a:r>
            <a:endParaRPr lang="en-US" altLang="en-US" sz="1800" dirty="0">
              <a:latin typeface="Times New Roman" panose="02020603050405020304" pitchFamily="18" charset="0"/>
              <a:cs typeface="Times New Roman" panose="02020603050405020304" pitchFamily="18" charset="0"/>
            </a:endParaRPr>
          </a:p>
          <a:p>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19200" y="274638"/>
            <a:ext cx="10363200" cy="742399"/>
          </a:xfrm>
        </p:spPr>
        <p:txBody>
          <a:bodyPr/>
          <a:lstStyle/>
          <a:p>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Motivation</a:t>
            </a:r>
            <a:endParaRPr lang="en-IN"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smtClean="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8" name="Content Placeholder 7"/>
          <p:cNvSpPr>
            <a:spLocks noGrp="1"/>
          </p:cNvSpPr>
          <p:nvPr>
            <p:ph sz="quarter" idx="1"/>
          </p:nvPr>
        </p:nvSpPr>
        <p:spPr>
          <a:xfrm>
            <a:off x="1219200" y="1166327"/>
            <a:ext cx="10363200" cy="4853473"/>
          </a:xfrm>
        </p:spPr>
        <p:txBody>
          <a:bodyPr/>
          <a:lstStyle/>
          <a:p>
            <a:r>
              <a:rPr lang="en-US" sz="2000" b="1" dirty="0">
                <a:latin typeface="Times New Roman" panose="02020603050405020304" pitchFamily="18" charset="0"/>
                <a:cs typeface="Times New Roman" panose="02020603050405020304" pitchFamily="18" charset="0"/>
              </a:rPr>
              <a:t>Reason for Choosing the Project</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Societal Relevance:</a:t>
            </a:r>
            <a:r>
              <a:rPr lang="en-US" altLang="en-US" sz="1800" dirty="0">
                <a:latin typeface="Times New Roman" panose="02020603050405020304" pitchFamily="18" charset="0"/>
                <a:cs typeface="Times New Roman" panose="02020603050405020304" pitchFamily="18" charset="0"/>
              </a:rPr>
              <a:t> Addresses critical urban issues like traffic congestion, accidents, and CO2 emissions, contributing to sustainable cities (aligned with UN SDGs) as urban populations are projected to hit 68% by 2050.</a:t>
            </a:r>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Technological Opportunity:</a:t>
            </a:r>
            <a:r>
              <a:rPr lang="en-US" altLang="en-US" sz="1800" dirty="0">
                <a:latin typeface="Times New Roman" panose="02020603050405020304" pitchFamily="18" charset="0"/>
                <a:cs typeface="Times New Roman" panose="02020603050405020304" pitchFamily="18" charset="0"/>
              </a:rPr>
              <a:t> Leverages advancements in  IoT to create innovative, real-time traffic solutions, bridging gaps in predictive and adaptive systems.</a:t>
            </a:r>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Academic Contribution:</a:t>
            </a:r>
            <a:r>
              <a:rPr lang="en-US" altLang="en-US" sz="1800" dirty="0">
                <a:latin typeface="Times New Roman" panose="02020603050405020304" pitchFamily="18" charset="0"/>
                <a:cs typeface="Times New Roman" panose="02020603050405020304" pitchFamily="18" charset="0"/>
              </a:rPr>
              <a:t> Offers scope for original research in data integration, scalability, and safety, addressing underexplored areas like multimodal traffic management.</a:t>
            </a:r>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Practical Impact: </a:t>
            </a:r>
            <a:r>
              <a:rPr lang="en-US" altLang="en-US" sz="1800" dirty="0">
                <a:latin typeface="Times New Roman" panose="02020603050405020304" pitchFamily="18" charset="0"/>
                <a:cs typeface="Times New Roman" panose="02020603050405020304" pitchFamily="18" charset="0"/>
              </a:rPr>
              <a:t>Provides a scalable, deployable solution for smart cities, with potential for real-world pilot programs and stakeholder collaboration.</a:t>
            </a:r>
            <a:endParaRPr lang="en-US" altLang="en-US" sz="1800" dirty="0">
              <a:latin typeface="Times New Roman" panose="02020603050405020304" pitchFamily="18" charset="0"/>
              <a:cs typeface="Times New Roman" panose="02020603050405020304" pitchFamily="18" charset="0"/>
            </a:endParaRPr>
          </a:p>
          <a:p>
            <a:r>
              <a:rPr lang="en-US" altLang="en-US" sz="1800" b="1" dirty="0">
                <a:latin typeface="Times New Roman" panose="02020603050405020304" pitchFamily="18" charset="0"/>
                <a:cs typeface="Times New Roman" panose="02020603050405020304" pitchFamily="18" charset="0"/>
              </a:rPr>
              <a:t>Skill Development: </a:t>
            </a:r>
            <a:r>
              <a:rPr lang="en-US" altLang="en-US" sz="1800" dirty="0">
                <a:latin typeface="Times New Roman" panose="02020603050405020304" pitchFamily="18" charset="0"/>
                <a:cs typeface="Times New Roman" panose="02020603050405020304" pitchFamily="18" charset="0"/>
              </a:rPr>
              <a:t>Enables hands-on experience with IoT, and smart city technologies, fostering expertise in a high-demand field for future career growth.</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8"/>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11" name="Slide Number Placeholder 10"/>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15" name="Content Placeholder 2"/>
          <p:cNvSpPr>
            <a:spLocks noGrp="1"/>
          </p:cNvSpPr>
          <p:nvPr>
            <p:ph sz="quarter" idx="1"/>
          </p:nvPr>
        </p:nvSpPr>
        <p:spPr>
          <a:xfrm>
            <a:off x="901700" y="1109980"/>
            <a:ext cx="10629900" cy="5260975"/>
          </a:xfrm>
        </p:spPr>
        <p:txBody>
          <a:bodyPr vert="horz" wrap="square" lIns="91440" tIns="45720" rIns="91440" bIns="45720" numCol="1" anchor="t" anchorCtr="0" compatLnSpc="1">
            <a:normAutofit lnSpcReduction="10000"/>
          </a:bodyPr>
          <a:lstStyle/>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kumimoji="0" lang="en-US"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Expected Outcomes </a:t>
            </a:r>
            <a:endParaRPr kumimoji="0" lang="en-US"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580"/>
              </a:spcBef>
              <a:spcAft>
                <a:spcPts val="0"/>
              </a:spcAft>
              <a:buClr>
                <a:schemeClr val="accent1"/>
              </a:buClr>
              <a:buSzPct val="85000"/>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project will deliver a Smart Traffic Management System powered by IOT, capable of analyzing real-time traffic conditions through data collected from sensors, cameras, and GPS devices.</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580"/>
              </a:spcBef>
              <a:spcAft>
                <a:spcPts val="0"/>
              </a:spcAft>
              <a:buClr>
                <a:schemeClr val="accent1"/>
              </a:buClr>
              <a:buSzPct val="85000"/>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It will provide adaptive traffic signal control, where signal timings are automatically adjusted based on vehicle density, ensuring smoother vehicle movement at intersections.</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580"/>
              </a:spcBef>
              <a:spcAft>
                <a:spcPts val="0"/>
              </a:spcAft>
              <a:buClr>
                <a:schemeClr val="accent1"/>
              </a:buClr>
              <a:buSzPct val="85000"/>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The system will be able to predict traffic congestion and suggest alternative routes to drivers, thereby reducing travel time and improving mobility.</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580"/>
              </a:spcBef>
              <a:spcAft>
                <a:spcPts val="0"/>
              </a:spcAft>
              <a:buClr>
                <a:schemeClr val="accent1"/>
              </a:buClr>
              <a:buSzPct val="85000"/>
              <a:defRPr/>
            </a:pP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kumimoji="0" lang="en-US"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Objectives </a:t>
            </a:r>
            <a:endParaRPr kumimoji="0" lang="en-US"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580"/>
              </a:spcBef>
              <a:spcAft>
                <a:spcPts val="0"/>
              </a:spcAft>
              <a:buClr>
                <a:schemeClr val="accent1"/>
              </a:buClr>
              <a:buSzPct val="85000"/>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design and develop an intelligent traffic management system that uses computer vision to monitor, analyze, and optimize real-time traffic flow.</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580"/>
              </a:spcBef>
              <a:spcAft>
                <a:spcPts val="0"/>
              </a:spcAft>
              <a:buClr>
                <a:schemeClr val="accent1"/>
              </a:buClr>
              <a:buSzPct val="85000"/>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reduce congestion, travel delays, fuel wastage, and air pollution by implementing adaptive signal control and route optimization techniques.</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l" defTabSz="914400" rtl="0" eaLnBrk="1" fontAlgn="auto" latinLnBrk="0" hangingPunct="1">
              <a:lnSpc>
                <a:spcPct val="100000"/>
              </a:lnSpc>
              <a:spcBef>
                <a:spcPts val="580"/>
              </a:spcBef>
              <a:spcAft>
                <a:spcPts val="0"/>
              </a:spcAft>
              <a:buClr>
                <a:schemeClr val="accent1"/>
              </a:buClr>
              <a:buSzPct val="85000"/>
              <a:defRPr/>
            </a:pPr>
            <a:r>
              <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To enhance road safety and emergency response by enabling automatic detection of accidents, prioritization of emergency vehicles, and timely alerts to traffic authorities.</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 name="Title 1"/>
          <p:cNvSpPr>
            <a:spLocks noGrp="1"/>
          </p:cNvSpPr>
          <p:nvPr>
            <p:ph type="title"/>
          </p:nvPr>
        </p:nvSpPr>
        <p:spPr>
          <a:xfrm>
            <a:off x="361950" y="74645"/>
            <a:ext cx="11396663" cy="1017037"/>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Objective</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0486" name="Picture 2"/>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0487"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6" name="Title 5"/>
          <p:cNvSpPr>
            <a:spLocks noGrp="1"/>
          </p:cNvSpPr>
          <p:nvPr>
            <p:ph type="title"/>
          </p:nvPr>
        </p:nvSpPr>
        <p:spPr>
          <a:xfrm>
            <a:off x="1219200" y="457200"/>
            <a:ext cx="10363200" cy="920750"/>
          </a:xfrm>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Existing Method</a:t>
            </a:r>
            <a:b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1510" name="Picture 1"/>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1511"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
        <p:nvSpPr>
          <p:cNvPr id="2" name="Content Placeholder 1"/>
          <p:cNvSpPr>
            <a:spLocks noGrp="1" noChangeArrowheads="1"/>
          </p:cNvSpPr>
          <p:nvPr>
            <p:ph sz="quarter" idx="1"/>
          </p:nvPr>
        </p:nvSpPr>
        <p:spPr bwMode="auto">
          <a:xfrm>
            <a:off x="552450" y="1197964"/>
            <a:ext cx="11229975" cy="458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Methods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traffic management systems are mostly manual or timer-based. Signals are pre-set for fixed durations regardless of actual traffic on each road.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some cities, semi-automatic control is used, where traffic police manually adjust signals during peak hours, but this still depends on human judgment.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few advanced systems use sensor-based signal control that detect vehicles at specific spots. However, these are limited in scope and cannot manage large-scale, unpredictable traffic conditions.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 Paper Concept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base paper introduces the idea of AI-powered smart traffic management, where traffic lights and road systems adapt dynamically instead of running on fixed timers.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uses Computer Vision (CV) to analyze live traffic data from cameras, sensors, and GPS devices.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count vehicles, measure traffic density, and identify congestion hotspots in real time.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on the analysis, it automatically adjusts signal timings at intersections to reduce waiting time and improve flow.</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can also detect emergency vehicles (ambulances, fire trucks, etc.), accidents, or road blockages and respond immediately by prioritizing routes.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19200" y="274638"/>
            <a:ext cx="10363200" cy="722312"/>
          </a:xfrm>
        </p:spPr>
        <p:txBody>
          <a:bodyPr/>
          <a:lstStyle/>
          <a:p>
            <a: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Block diagram</a:t>
            </a:r>
            <a:endParaRPr lang="en-US" dirty="0"/>
          </a:p>
        </p:txBody>
      </p:sp>
      <p:sp>
        <p:nvSpPr>
          <p:cNvPr id="4" name="Date Placeholder 3"/>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2BB9058-46CA-44A1-883E-961D7612F8EA}" type="datetime2">
              <a:rPr kumimoji="0" lang="en-US" sz="1400" b="0" i="0" u="none" strike="noStrike" kern="1200" cap="none" spc="0" normalizeH="0" baseline="0" noProof="0" smtClean="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pic>
        <p:nvPicPr>
          <p:cNvPr id="5" name="Picture 4"/>
          <p:cNvPicPr>
            <a:picLocks noChangeAspect="1"/>
          </p:cNvPicPr>
          <p:nvPr/>
        </p:nvPicPr>
        <p:blipFill>
          <a:blip r:embed="rId1"/>
          <a:stretch>
            <a:fillRect/>
          </a:stretch>
        </p:blipFill>
        <p:spPr>
          <a:xfrm>
            <a:off x="10920413" y="158750"/>
            <a:ext cx="981075" cy="838200"/>
          </a:xfrm>
          <a:prstGeom prst="rect">
            <a:avLst/>
          </a:prstGeom>
          <a:noFill/>
          <a:ln w="9525">
            <a:noFill/>
          </a:ln>
        </p:spPr>
      </p:pic>
      <p:pic>
        <p:nvPicPr>
          <p:cNvPr id="8" name="Content Placeholder 7"/>
          <p:cNvPicPr>
            <a:picLocks noGrp="1" noChangeAspect="1"/>
          </p:cNvPicPr>
          <p:nvPr>
            <p:ph sz="quarter" idx="1"/>
          </p:nvPr>
        </p:nvPicPr>
        <p:blipFill>
          <a:blip r:embed="rId2"/>
          <a:stretch>
            <a:fillRect/>
          </a:stretch>
        </p:blipFill>
        <p:spPr>
          <a:xfrm>
            <a:off x="1524000" y="1112838"/>
            <a:ext cx="8300286" cy="4670211"/>
          </a:xfrm>
          <a:prstGeom prst="rect">
            <a:avLst/>
          </a:prstGeom>
          <a:noFill/>
          <a:ln w="9525">
            <a:noFill/>
          </a:ln>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05180" y="158751"/>
            <a:ext cx="10363200" cy="838200"/>
          </a:xfrm>
        </p:spPr>
        <p:txBody>
          <a:bodyPr vert="horz" wrap="square" lIns="91440" tIns="45720" rIns="91440" bIns="9144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Proposed Method</a:t>
            </a:r>
            <a:endParaRPr kumimoji="0" lang="en-IN" sz="4000" b="0" i="0" u="none" strike="noStrike" kern="1200" cap="none" spc="0" normalizeH="0" baseline="0" noProof="0" dirty="0">
              <a:ln>
                <a:noFill/>
              </a:ln>
              <a:solidFill>
                <a:schemeClr val="tx2"/>
              </a:solidFill>
              <a:effectLst/>
              <a:uLnTx/>
              <a:uFillTx/>
              <a:latin typeface="+mj-lt"/>
              <a:ea typeface="+mj-ea"/>
              <a:cs typeface="+mj-cs"/>
            </a:endParaRPr>
          </a:p>
        </p:txBody>
      </p:sp>
      <p:sp>
        <p:nvSpPr>
          <p:cNvPr id="4" name="Date Placeholder 3"/>
          <p:cNvSpPr txBox="1">
            <a:spLocks noGrp="1"/>
          </p:cNvSpPr>
          <p:nvPr>
            <p:ph type="dt" sz="half" idx="10"/>
          </p:nvPr>
        </p:nvSpPr>
        <p:spPr>
          <a:noFill/>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defRPr/>
            </a:pPr>
            <a:fld id="{C64BF6A4-4896-4B13-9E9F-995F0671C1E8}" type="datetime2">
              <a:rPr kumimoji="0" lang="en-US" sz="1400" b="0" i="0" u="none" strike="noStrike" kern="1200" cap="none" spc="0" normalizeH="0" baseline="0" noProof="0" smtClean="0">
                <a:ln>
                  <a:noFill/>
                </a:ln>
                <a:solidFill>
                  <a:schemeClr val="tx2"/>
                </a:solidFill>
                <a:effectLst/>
                <a:uLnTx/>
                <a:uFillTx/>
                <a:latin typeface="+mn-lt"/>
                <a:ea typeface="+mn-ea"/>
                <a:cs typeface="+mn-cs"/>
              </a:rPr>
            </a:fld>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
        <p:nvSpPr>
          <p:cNvPr id="6" name="Slide Number Placeholder 5"/>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pic>
        <p:nvPicPr>
          <p:cNvPr id="22534" name="Picture 1"/>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2535"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
        <p:nvSpPr>
          <p:cNvPr id="8" name="Rectangle 3"/>
          <p:cNvSpPr>
            <a:spLocks noGrp="1" noChangeArrowheads="1"/>
          </p:cNvSpPr>
          <p:nvPr>
            <p:ph sz="quarter" idx="1"/>
          </p:nvPr>
        </p:nvSpPr>
        <p:spPr bwMode="auto">
          <a:xfrm>
            <a:off x="339725" y="472440"/>
            <a:ext cx="11018520" cy="6455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Methods to Achieve the Objective</a:t>
            </a: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Data Collection:</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Gather live traffic information from  IoT sensors.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mobile and navigation app data to enhance accuracy.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Processing &amp; Preprocessing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Clean and organize the collected data.</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 raw video and sensor signals into usable input for models.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 for Vehicle Detection</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Apply object detection models (e.g., YOLO, OpenCV) to detect vehicles, count them, and measure density.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Recognize emergency vehicles (ambulance, fire trucks, police cars).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 accidents, road blockages, or abnormal traffic behavior.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 for Traffic Prediction</a:t>
            </a: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algorithms such as  Neural Networks, Regression Models, or Reinforcement Learning to analyze traffic patterns.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 congestion hotspots and future traffic flow.</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6" name="Title 5"/>
          <p:cNvSpPr>
            <a:spLocks noGrp="1"/>
          </p:cNvSpPr>
          <p:nvPr>
            <p:ph type="title"/>
          </p:nvPr>
        </p:nvSpPr>
        <p:spPr>
          <a:xfrm>
            <a:off x="-111967" y="190501"/>
            <a:ext cx="11694367" cy="672226"/>
          </a:xfrm>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IN" sz="36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Explanation of Proposed Work</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9" name="Content Placeholder 2"/>
          <p:cNvSpPr txBox="1"/>
          <p:nvPr/>
        </p:nvSpPr>
        <p:spPr>
          <a:xfrm>
            <a:off x="557530" y="1097915"/>
            <a:ext cx="10973435" cy="5065395"/>
          </a:xfrm>
          <a:prstGeom prst="rect">
            <a:avLst/>
          </a:prstGeom>
        </p:spPr>
        <p:txBody>
          <a:bodyPr>
            <a:normAutofit fontScale="90000"/>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sz="1800" b="1" dirty="0">
                <a:latin typeface="Times New Roman" panose="02020603050405020304" pitchFamily="18" charset="0"/>
                <a:cs typeface="Times New Roman" panose="02020603050405020304" pitchFamily="18" charset="0"/>
                <a:sym typeface="+mn-ea"/>
              </a:rPr>
              <a:t>Preprocessing and Feature Extraction</a:t>
            </a:r>
            <a:endParaRPr lang="en-US" sz="18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Preprocessing:</a:t>
            </a:r>
            <a:endPar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Noise Removal:</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Remove irrelevant background information (shadows, reflections, environmental noise).</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Frame Processing:</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Convert video into image frames for analysis.</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Normalization:</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Standardize input data (e.g., scaling images, adjusting brightness/contrast).</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Segmentation: </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Separate vehicles from the road background using image segmentation techniques.</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Data Cleaning: </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Remove incomplete or faulty sensor readings.</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Feature Extraction:</a:t>
            </a:r>
            <a:endPar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Vehicle Count &amp; Density: </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Extract the number of vehicles and their distribution in each lane.</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Vehicle Type Identification:</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Distinguish between cars, buses, trucks, bikes, etc., for better traffic analysis.</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Speed Estimation: </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Track the motion of vehicles to calculate speed and flow rate.</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Emergency Vehicle Detection:</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Use unique features like sirens, lights, or vehicle shapes to identify ambulances/fire trucks.</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Accident/Anomaly Detection:</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Extract features such as sudden stops, collisions, or abnormal traffic flow patterns.</a:t>
            </a:r>
            <a:endPar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580"/>
              </a:spcBef>
              <a:spcAft>
                <a:spcPts val="0"/>
              </a:spcAft>
              <a:buClr>
                <a:schemeClr val="accent1"/>
              </a:buClr>
              <a:buSzPct val="85000"/>
              <a:buNone/>
              <a:defRPr/>
            </a:pPr>
            <a:r>
              <a:rPr lang="en-US" altLang="en-US" sz="1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Time-Based Features: </a:t>
            </a:r>
            <a:r>
              <a:rPr lang="en-US" alt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Consider peak hours, weekdays/weekends, and seasonal variations in traffic flow.</a:t>
            </a:r>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a:t>
            </a:r>
            <a:r>
              <a:rPr lang="en-US" sz="1800" dirty="0">
                <a:latin typeface="Times New Roman" panose="02020603050405020304" pitchFamily="18" charset="0"/>
                <a:cs typeface="Times New Roman" panose="02020603050405020304" pitchFamily="18" charset="0"/>
                <a:sym typeface="+mn-ea"/>
              </a:rPr>
              <a:t>                                                                                                                                                                                                                                    </a:t>
            </a:r>
            <a:endParaRPr kumimoji="0" lang="en-IN" sz="1800" b="0" i="0" u="none" strike="noStrike" kern="1200" cap="none" spc="0" normalizeH="0" baseline="0" noProof="0" dirty="0">
              <a:ln>
                <a:noFill/>
              </a:ln>
              <a:solidFill>
                <a:srgbClr val="000000"/>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4582" name="Picture 1"/>
          <p:cNvPicPr>
            <a:picLocks noChangeAspect="1"/>
          </p:cNvPicPr>
          <p:nvPr/>
        </p:nvPicPr>
        <p:blipFill>
          <a:blip r:embed="rId1"/>
          <a:stretch>
            <a:fillRect/>
          </a:stretch>
        </p:blipFill>
        <p:spPr>
          <a:xfrm>
            <a:off x="10920413" y="40618"/>
            <a:ext cx="981075" cy="838200"/>
          </a:xfrm>
          <a:prstGeom prst="rect">
            <a:avLst/>
          </a:prstGeom>
          <a:noFill/>
          <a:ln w="9525">
            <a:noFill/>
          </a:ln>
        </p:spPr>
      </p:pic>
      <p:sp>
        <p:nvSpPr>
          <p:cNvPr id="24583"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6" name="Title 5"/>
          <p:cNvSpPr>
            <a:spLocks noGrp="1"/>
          </p:cNvSpPr>
          <p:nvPr>
            <p:ph type="title"/>
          </p:nvPr>
        </p:nvSpPr>
        <p:spPr>
          <a:xfrm>
            <a:off x="400050" y="0"/>
            <a:ext cx="10363200" cy="1033463"/>
          </a:xfrm>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IN" sz="36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Explanation of Proposed Work</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9" name="Content Placeholder 2"/>
          <p:cNvSpPr txBox="1"/>
          <p:nvPr/>
        </p:nvSpPr>
        <p:spPr>
          <a:xfrm>
            <a:off x="3617913" y="1792287"/>
            <a:ext cx="10363200" cy="4572000"/>
          </a:xfrm>
          <a:prstGeom prst="rect">
            <a:avLst/>
          </a:prstGeom>
        </p:spPr>
        <p:txBody>
          <a:bodyPr>
            <a:normAutofit/>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580"/>
              </a:spcBef>
              <a:spcAft>
                <a:spcPts val="0"/>
              </a:spcAft>
              <a:buClr>
                <a:schemeClr val="accent1"/>
              </a:buClr>
              <a:buSzPct val="85000"/>
              <a:buNone/>
              <a:defRPr/>
            </a:pPr>
            <a:endParaRPr kumimoji="0" lang="en-IN" sz="1800" i="0" u="none" strike="noStrike" kern="1200" cap="none" spc="0" normalizeH="0" baseline="0" noProof="0" dirty="0">
              <a:ln>
                <a:noFill/>
              </a:ln>
              <a:solidFill>
                <a:schemeClr val="tx1">
                  <a:lumMod val="95000"/>
                  <a:lumOff val="5000"/>
                </a:schemeClr>
              </a:solidFill>
              <a:effectLst/>
              <a:uLnTx/>
              <a:uFillTx/>
              <a:latin typeface="Times New Roman" panose="02020603050405020304" pitchFamily="18" charset="0"/>
              <a:cs typeface="Times New Roman" panose="02020603050405020304" pitchFamily="18" charset="0"/>
            </a:endParaRPr>
          </a:p>
        </p:txBody>
      </p:sp>
      <p:pic>
        <p:nvPicPr>
          <p:cNvPr id="25606" name="Picture 1"/>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5607"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
        <p:nvSpPr>
          <p:cNvPr id="3" name="TextBox 2"/>
          <p:cNvSpPr txBox="1"/>
          <p:nvPr/>
        </p:nvSpPr>
        <p:spPr>
          <a:xfrm>
            <a:off x="195263" y="953313"/>
            <a:ext cx="11859888" cy="4770537"/>
          </a:xfrm>
          <a:prstGeom prst="rect">
            <a:avLst/>
          </a:prstGeom>
          <a:noFill/>
          <a:ln>
            <a:solidFill>
              <a:schemeClr val="bg2"/>
            </a:solidFill>
          </a:ln>
        </p:spPr>
        <p:txBody>
          <a:bodyPr wrap="square">
            <a:spAutoFit/>
          </a:bodyPr>
          <a:lstStyle/>
          <a:p>
            <a:r>
              <a:rPr lang="en-US" sz="2000" b="1" dirty="0">
                <a:latin typeface="Times New Roman" panose="02020603050405020304" pitchFamily="18" charset="0"/>
                <a:cs typeface="Times New Roman" panose="02020603050405020304" pitchFamily="18" charset="0"/>
              </a:rPr>
              <a:t>Pattern Matching and Machine Learning</a:t>
            </a:r>
            <a:endParaRPr lang="en-US" sz="2000"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Pattern Matching Block</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Compares extracted features against a reference database to detect discrepancies.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How Used in Project</a:t>
            </a:r>
            <a:r>
              <a:rPr lang="en-US" dirty="0">
                <a:latin typeface="Times New Roman" panose="02020603050405020304" pitchFamily="18" charset="0"/>
                <a:cs typeface="Times New Roman" panose="02020603050405020304" pitchFamily="18" charset="0"/>
              </a:rPr>
              <a:t>: Implement template matching and Brute-Force matcher to compare extracted features (e.g., security threads) with a database of genuine note characteristics.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Why Chosen</a:t>
            </a:r>
            <a:r>
              <a:rPr lang="en-US" dirty="0">
                <a:latin typeface="Times New Roman" panose="02020603050405020304" pitchFamily="18" charset="0"/>
                <a:cs typeface="Times New Roman" panose="02020603050405020304" pitchFamily="18" charset="0"/>
              </a:rPr>
              <a:t>: Template matching is reliable for static feature comparison; Brute-Force matcher is effective for </a:t>
            </a:r>
            <a:r>
              <a:rPr lang="en-US" dirty="0" err="1">
                <a:latin typeface="Times New Roman" panose="02020603050405020304" pitchFamily="18" charset="0"/>
                <a:cs typeface="Times New Roman" panose="02020603050405020304" pitchFamily="18" charset="0"/>
              </a:rPr>
              <a:t>keypoint</a:t>
            </a:r>
            <a:r>
              <a:rPr lang="en-US" dirty="0">
                <a:latin typeface="Times New Roman" panose="02020603050405020304" pitchFamily="18" charset="0"/>
                <a:cs typeface="Times New Roman" panose="02020603050405020304" pitchFamily="18" charset="0"/>
              </a:rPr>
              <a:t>-based analysis.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 Provides accurate detection of counterfeit discrepancies, simple to implement, and works well with structured features like ascended currency.</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Machine Learning Block</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Use</a:t>
            </a:r>
            <a:r>
              <a:rPr lang="en-US" dirty="0">
                <a:latin typeface="Times New Roman" panose="02020603050405020304" pitchFamily="18" charset="0"/>
                <a:cs typeface="Times New Roman" panose="02020603050405020304" pitchFamily="18" charset="0"/>
              </a:rPr>
              <a:t>: Enhances detection accuracy and adaptability to complex counterfeits.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How Used in Project</a:t>
            </a:r>
            <a:r>
              <a:rPr lang="en-US" dirty="0">
                <a:latin typeface="Times New Roman" panose="02020603050405020304" pitchFamily="18" charset="0"/>
                <a:cs typeface="Times New Roman" panose="02020603050405020304" pitchFamily="18" charset="0"/>
              </a:rPr>
              <a:t>: Train a Convolutional Neural Network (CNN) on a dataset of genuine and fake currency images to classify notes based on learned patterns.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Why Chosen</a:t>
            </a:r>
            <a:r>
              <a:rPr lang="en-US" dirty="0">
                <a:latin typeface="Times New Roman" panose="02020603050405020304" pitchFamily="18" charset="0"/>
                <a:cs typeface="Times New Roman" panose="02020603050405020304" pitchFamily="18" charset="0"/>
              </a:rPr>
              <a:t>: CNNs excel at learning complex visual patterns, improving detection of sophisticated fakes.</a:t>
            </a:r>
            <a:endParaRPr lang="en-US" dirty="0">
              <a:latin typeface="Times New Roman" panose="02020603050405020304" pitchFamily="18" charset="0"/>
              <a:cs typeface="Times New Roman" panose="02020603050405020304" pitchFamily="18" charset="0"/>
            </a:endParaRPr>
          </a:p>
          <a:p>
            <a:pPr lvl="1"/>
            <a:r>
              <a:rPr lang="en-US" b="1"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 High accuracy (up to 99% with robust datasets), adaptable to new counterfeit techniques, and improves over time with more data.</a:t>
            </a:r>
            <a:endParaRPr lang="en-US" dirty="0">
              <a:latin typeface="Times New Roman" panose="02020603050405020304" pitchFamily="18" charset="0"/>
              <a:cs typeface="Times New Roman" panose="02020603050405020304" pitchFamily="18" charset="0"/>
            </a:endParaRPr>
          </a:p>
          <a:p>
            <a:endParaRPr lang="en-US" sz="16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
          </p:nvPr>
        </p:nvSpPr>
        <p:spPr>
          <a:xfrm>
            <a:off x="438785" y="1007745"/>
            <a:ext cx="11249660" cy="4790440"/>
          </a:xfrm>
        </p:spPr>
        <p:txBody>
          <a:bodyPr/>
          <a:lstStyle/>
          <a:p>
            <a:r>
              <a:rPr lang="en-US" sz="2000" b="1" dirty="0">
                <a:latin typeface="Times New Roman" panose="02020603050405020304" pitchFamily="18" charset="0"/>
                <a:cs typeface="Times New Roman" panose="02020603050405020304" pitchFamily="18" charset="0"/>
              </a:rPr>
              <a:t>Real-Time Processing and System Integration</a:t>
            </a:r>
            <a:endParaRPr lang="en-US" sz="2000" b="1"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Real-Time Processing:</a:t>
            </a:r>
            <a:endParaRPr lang="en-US" altLang="en-US" sz="2000" b="1"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Data Streaming: Use Apache Kafka for real-time ingestion of IoT sensor, camera, and V2I data, processing in 5-30 second windows to support dynamic predictions.</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Edge Computing: Deploy edge nodes at intersections for low-latency preprocessing (e.g., Kalman filtering) to handle noise and ensure reliable AI inputs.</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AI Inference: Run LSTMs for traffic prediction and MARL for signal control on GPUs, updating every 10-30 seconds to reduce travel times by 25%.</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Anomaly Detection: Apply real-time anomaly detection (e.g., Isolation Forest) to identify incidents, enabling rapid rerouting and safety adjustments.</a:t>
            </a:r>
            <a:endParaRPr lang="en-US" altLang="en-US" sz="1800"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System Integration:</a:t>
            </a:r>
            <a:endParaRPr lang="en-US" altLang="en-US" sz="2000" b="1"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IoT and V2I Connectivity: Integrate sensors and V2I via 5G/MQTT for seamless data flow, enabling emergency vehicle prioritization </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Centralized Platform: Use a cloud hub to aggregate data,  and coordinate signals across intersections for cohesive traffic management.</a:t>
            </a:r>
            <a:endParaRPr lang="en-US" altLang="en-US" sz="1800" dirty="0">
              <a:latin typeface="Times New Roman" panose="02020603050405020304" pitchFamily="18" charset="0"/>
              <a:cs typeface="Times New Roman" panose="02020603050405020304" pitchFamily="18" charset="0"/>
            </a:endParaRPr>
          </a:p>
          <a:p>
            <a:r>
              <a:rPr lang="en-US" altLang="en-US" sz="1800" dirty="0">
                <a:latin typeface="Times New Roman" panose="02020603050405020304" pitchFamily="18" charset="0"/>
                <a:cs typeface="Times New Roman" panose="02020603050405020304" pitchFamily="18" charset="0"/>
              </a:rPr>
              <a:t>Adaptive Signal Control: Connect MARL agents to signal controllers via IoT gateways for dynamic timing adjustments, supporting travel time reduction. </a:t>
            </a:r>
            <a:endParaRPr lang="en-US" altLang="en-US" sz="18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a:xfrm>
            <a:off x="1219200" y="274638"/>
            <a:ext cx="10363200" cy="733068"/>
          </a:xfrm>
        </p:spPr>
        <p:txBody>
          <a:bodyPr/>
          <a:lstStyle/>
          <a:p>
            <a:r>
              <a:rPr lang="en-IN" dirty="0">
                <a:solidFill>
                  <a:schemeClr val="bg2">
                    <a:lumMod val="50000"/>
                  </a:schemeClr>
                </a:solidFill>
                <a:latin typeface="Times New Roman" panose="02020603050405020304" pitchFamily="18" charset="0"/>
                <a:ea typeface="Microsoft Sans Serif" panose="020B0604020202020204" pitchFamily="34" charset="0"/>
                <a:cs typeface="Times New Roman" panose="02020603050405020304" pitchFamily="18" charset="0"/>
              </a:rPr>
              <a:t>               Explanation of Proposed Work</a:t>
            </a:r>
            <a:endParaRPr lang="en-IN" dirty="0"/>
          </a:p>
        </p:txBody>
      </p:sp>
      <p:sp>
        <p:nvSpPr>
          <p:cNvPr id="4" name="Date Placeholder 3"/>
          <p:cNvSpPr>
            <a:spLocks noGrp="1"/>
          </p:cNvSpPr>
          <p:nvPr>
            <p:ph type="dt" sz="half" idx="10"/>
          </p:nvPr>
        </p:nvSpPr>
        <p:spPr>
          <a:xfrm>
            <a:off x="8835390" y="6191250"/>
            <a:ext cx="3302000" cy="47625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schemeClr val="tx2"/>
              </a:solidFill>
              <a:effectLst/>
              <a:uLnTx/>
              <a:uFillTx/>
              <a:latin typeface="+mn-lt"/>
              <a:ea typeface="+mn-ea"/>
              <a:cs typeface="+mn-cs"/>
            </a:endParaRP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6" name="Title 5"/>
          <p:cNvSpPr>
            <a:spLocks noGrp="1"/>
          </p:cNvSpPr>
          <p:nvPr>
            <p:ph type="title"/>
          </p:nvPr>
        </p:nvSpPr>
        <p:spPr>
          <a:xfrm rot="10800000" flipV="1">
            <a:off x="186690" y="407035"/>
            <a:ext cx="11903710" cy="742950"/>
          </a:xfrm>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 </a:t>
            </a: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br>
              <a:rPr kumimoji="0" lang="en-US" sz="27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r>
              <a:rPr kumimoji="0" lang="en-US" sz="36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Hardware &amp; Software Involved</a:t>
            </a:r>
            <a:br>
              <a:rPr kumimoji="0" lang="en-IN" sz="36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br>
            <a:endParaRPr kumimoji="0" lang="en-US" altLang="en-US" sz="2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6630" name="Picture 1"/>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6631"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
        <p:nvSpPr>
          <p:cNvPr id="2" name="Rectangle 1"/>
          <p:cNvSpPr>
            <a:spLocks noChangeArrowheads="1"/>
          </p:cNvSpPr>
          <p:nvPr/>
        </p:nvSpPr>
        <p:spPr bwMode="auto">
          <a:xfrm>
            <a:off x="0" y="3251895"/>
            <a:ext cx="11784563"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algn="l" defTabSz="914400" rtl="0" eaLnBrk="0" fontAlgn="base" latinLnBrk="0" hangingPunct="0">
              <a:lnSpc>
                <a:spcPct val="100000"/>
              </a:lnSpc>
              <a:spcBef>
                <a:spcPct val="0"/>
              </a:spcBef>
              <a:spcAft>
                <a:spcPct val="0"/>
              </a:spcAft>
              <a:buClrTx/>
              <a:buSzTx/>
              <a:buFont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 Box 2"/>
          <p:cNvSpPr txBox="1"/>
          <p:nvPr/>
        </p:nvSpPr>
        <p:spPr>
          <a:xfrm>
            <a:off x="8776970" y="-2139315"/>
            <a:ext cx="4064000" cy="368300"/>
          </a:xfrm>
          <a:prstGeom prst="rect">
            <a:avLst/>
          </a:prstGeom>
          <a:noFill/>
          <a:ln>
            <a:solidFill>
              <a:schemeClr val="bg2"/>
            </a:solidFill>
          </a:ln>
        </p:spPr>
        <p:txBody>
          <a:bodyPr wrap="square" rtlCol="0" anchor="ctr" anchorCtr="1">
            <a:spAutoFit/>
          </a:bodyPr>
          <a:lstStyle/>
          <a:p>
            <a:endParaRPr lang="en-US" dirty="0"/>
          </a:p>
        </p:txBody>
      </p:sp>
      <p:sp>
        <p:nvSpPr>
          <p:cNvPr id="8" name="Text Box 7"/>
          <p:cNvSpPr txBox="1"/>
          <p:nvPr/>
        </p:nvSpPr>
        <p:spPr>
          <a:xfrm>
            <a:off x="641985" y="997585"/>
            <a:ext cx="11132820" cy="5587365"/>
          </a:xfrm>
          <a:prstGeom prst="rect">
            <a:avLst/>
          </a:prstGeom>
          <a:noFill/>
          <a:ln>
            <a:solidFill>
              <a:schemeClr val="bg2"/>
            </a:solidFill>
          </a:ln>
        </p:spPr>
        <p:txBody>
          <a:bodyPr wrap="square" rtlCol="0" anchor="ctr" anchorCtr="1">
            <a:noAutofit/>
          </a:bodyPr>
          <a:lstStyle/>
          <a:p>
            <a:r>
              <a:rPr lang="en-US" altLang="en-US" sz="2000" b="1" dirty="0">
                <a:latin typeface="Times New Roman" panose="02020603050405020304" pitchFamily="18" charset="0"/>
                <a:cs typeface="Times New Roman" panose="02020603050405020304" pitchFamily="18" charset="0"/>
              </a:rPr>
              <a:t>Hardware:</a:t>
            </a:r>
            <a:endParaRPr lang="en-US" altLang="en-US" sz="2000" b="1"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IoT Sensors (infrared, inductive loops, ultrasonic) –</a:t>
            </a:r>
            <a:r>
              <a:rPr lang="en-US" altLang="en-US" dirty="0">
                <a:latin typeface="Times New Roman" panose="02020603050405020304" pitchFamily="18" charset="0"/>
                <a:cs typeface="Times New Roman" panose="02020603050405020304" pitchFamily="18" charset="0"/>
              </a:rPr>
              <a:t> to detect vehicle presence, count, and speed.</a:t>
            </a:r>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GPS Devices –</a:t>
            </a:r>
            <a:r>
              <a:rPr lang="en-US" altLang="en-US" dirty="0">
                <a:latin typeface="Times New Roman" panose="02020603050405020304" pitchFamily="18" charset="0"/>
                <a:cs typeface="Times New Roman" panose="02020603050405020304" pitchFamily="18" charset="0"/>
              </a:rPr>
              <a:t> for tracking vehicle movement and congestion patterns.</a:t>
            </a:r>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Servers–</a:t>
            </a:r>
            <a:r>
              <a:rPr lang="en-US" altLang="en-US" dirty="0">
                <a:latin typeface="Times New Roman" panose="02020603050405020304" pitchFamily="18" charset="0"/>
                <a:cs typeface="Times New Roman" panose="02020603050405020304" pitchFamily="18" charset="0"/>
              </a:rPr>
              <a:t> for large-scale data storage, training, and analysis.</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a:p>
            <a:r>
              <a:rPr lang="en-US" altLang="en-US" sz="2000" b="1" dirty="0">
                <a:latin typeface="Times New Roman" panose="02020603050405020304" pitchFamily="18" charset="0"/>
                <a:cs typeface="Times New Roman" panose="02020603050405020304" pitchFamily="18" charset="0"/>
              </a:rPr>
              <a:t>Software:</a:t>
            </a:r>
            <a:endParaRPr lang="en-US" altLang="en-US" sz="2000" b="1"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Programming Languages:</a:t>
            </a:r>
            <a:r>
              <a:rPr lang="en-US" altLang="en-US" dirty="0">
                <a:latin typeface="Times New Roman" panose="02020603050405020304" pitchFamily="18" charset="0"/>
                <a:cs typeface="Times New Roman" panose="02020603050405020304" pitchFamily="18" charset="0"/>
              </a:rPr>
              <a:t> Python ,C </a:t>
            </a:r>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Data Processing Tools:</a:t>
            </a:r>
            <a:r>
              <a:rPr lang="en-US" altLang="en-US" dirty="0">
                <a:latin typeface="Times New Roman" panose="02020603050405020304" pitchFamily="18" charset="0"/>
                <a:cs typeface="Times New Roman" panose="02020603050405020304" pitchFamily="18" charset="0"/>
              </a:rPr>
              <a:t> Apache </a:t>
            </a:r>
            <a:r>
              <a:rPr lang="en-US" altLang="en-US" dirty="0" err="1">
                <a:latin typeface="Times New Roman" panose="02020603050405020304" pitchFamily="18" charset="0"/>
                <a:cs typeface="Times New Roman" panose="02020603050405020304" pitchFamily="18" charset="0"/>
              </a:rPr>
              <a:t>Kafka&amp;Spark</a:t>
            </a:r>
            <a:r>
              <a:rPr lang="en-US" altLang="en-US" dirty="0">
                <a:latin typeface="Times New Roman" panose="02020603050405020304" pitchFamily="18" charset="0"/>
                <a:cs typeface="Times New Roman" panose="02020603050405020304" pitchFamily="18" charset="0"/>
              </a:rPr>
              <a:t> Streaming for real-time data handling; </a:t>
            </a:r>
            <a:r>
              <a:rPr lang="en-US" altLang="en-US" dirty="0" err="1">
                <a:latin typeface="Times New Roman" panose="02020603050405020304" pitchFamily="18" charset="0"/>
                <a:cs typeface="Times New Roman" panose="02020603050405020304" pitchFamily="18" charset="0"/>
              </a:rPr>
              <a:t>SQL&amp;NoSQL</a:t>
            </a:r>
            <a:r>
              <a:rPr lang="en-US" altLang="en-US" dirty="0">
                <a:latin typeface="Times New Roman" panose="02020603050405020304" pitchFamily="18" charset="0"/>
                <a:cs typeface="Times New Roman" panose="02020603050405020304" pitchFamily="18" charset="0"/>
              </a:rPr>
              <a:t> databases for storage.</a:t>
            </a:r>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Simulation Tools:</a:t>
            </a:r>
            <a:r>
              <a:rPr lang="en-US" altLang="en-US" dirty="0">
                <a:latin typeface="Times New Roman" panose="02020603050405020304" pitchFamily="18" charset="0"/>
                <a:cs typeface="Times New Roman" panose="02020603050405020304" pitchFamily="18" charset="0"/>
              </a:rPr>
              <a:t> SUMO (Simulation of Urban Mobility) for testing traffic scenarios; </a:t>
            </a:r>
            <a:r>
              <a:rPr lang="en-US" altLang="en-US" dirty="0" err="1">
                <a:latin typeface="Times New Roman" panose="02020603050405020304" pitchFamily="18" charset="0"/>
                <a:cs typeface="Times New Roman" panose="02020603050405020304" pitchFamily="18" charset="0"/>
              </a:rPr>
              <a:t>MATLAB&amp;Simulink</a:t>
            </a:r>
            <a:r>
              <a:rPr lang="en-US" altLang="en-US" dirty="0">
                <a:latin typeface="Times New Roman" panose="02020603050405020304" pitchFamily="18" charset="0"/>
                <a:cs typeface="Times New Roman" panose="02020603050405020304" pitchFamily="18" charset="0"/>
              </a:rPr>
              <a:t>  for modeling.</a:t>
            </a:r>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Integration &amp; Deployment: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Flask&amp;Django</a:t>
            </a:r>
            <a:r>
              <a:rPr lang="en-US" altLang="en-US" dirty="0">
                <a:latin typeface="Times New Roman" panose="02020603050405020304" pitchFamily="18" charset="0"/>
                <a:cs typeface="Times New Roman" panose="02020603050405020304" pitchFamily="18" charset="0"/>
              </a:rPr>
              <a:t> for dashboard &amp; APIs; Cloud platforms for deployment; TensorFlow Lite.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4" name="Slide Number Placeholder 3"/>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6" name="Title 5"/>
          <p:cNvSpPr>
            <a:spLocks noGrp="1"/>
          </p:cNvSpPr>
          <p:nvPr>
            <p:ph type="title"/>
          </p:nvPr>
        </p:nvSpPr>
        <p:spPr>
          <a:xfrm>
            <a:off x="1219200" y="274638"/>
            <a:ext cx="10363200" cy="515388"/>
          </a:xfrm>
        </p:spPr>
        <p:txBody>
          <a:bodyPr vert="horz" wrap="square" lIns="91440" tIns="45720" rIns="91440" bIns="91440" numCol="1" anchor="b" anchorCtr="0" compatLnSpc="1">
            <a:normAutofit fontScale="900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Application &amp; Advantages</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sp>
        <p:nvSpPr>
          <p:cNvPr id="9" name="Content Placeholder 2"/>
          <p:cNvSpPr txBox="1"/>
          <p:nvPr/>
        </p:nvSpPr>
        <p:spPr>
          <a:xfrm>
            <a:off x="711200" y="1308100"/>
            <a:ext cx="10363200" cy="4902200"/>
          </a:xfrm>
          <a:prstGeom prst="rect">
            <a:avLst/>
          </a:prstGeom>
        </p:spPr>
        <p:txBody>
          <a:bodyPr>
            <a:normAutofit fontScale="95000"/>
          </a:bodyPr>
          <a:lst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 typeface="Arial" panose="020B0604020202020204" pitchFamily="34" charset="0"/>
              <a:buChar char="•"/>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580"/>
              </a:spcBef>
              <a:spcAft>
                <a:spcPts val="0"/>
              </a:spcAft>
              <a:buClr>
                <a:schemeClr val="accent1"/>
              </a:buClr>
              <a:buSzPct val="85000"/>
              <a:buFont typeface="Wingdings" panose="05000000000000000000" pitchFamily="2" charset="2"/>
              <a:buNone/>
              <a:defRPr/>
            </a:pPr>
            <a:endParaRPr kumimoji="0" lang="en-IN" sz="2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7654"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pic>
        <p:nvPicPr>
          <p:cNvPr id="27655" name="Picture 1"/>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 name="Rectangle 1"/>
          <p:cNvSpPr>
            <a:spLocks noChangeArrowheads="1"/>
          </p:cNvSpPr>
          <p:nvPr/>
        </p:nvSpPr>
        <p:spPr bwMode="auto">
          <a:xfrm>
            <a:off x="513080" y="275590"/>
            <a:ext cx="10967720" cy="588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Traffic Signal Control: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Automatically adjusts green-red timings based on real-time traffic density.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Vehicle Management: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Detects ambulances or fire trucks and gives them signal priority.</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Accident &amp; Anomaly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Identifies collisions or unusual traffic flow and alerts authorities.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Route Optimization: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Suggests alternate paths to drivers through GPS or navigation apps.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City 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Acts as a key component in intelligent transportation systems (ITS).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algn="l" defTabSz="914400" rtl="0" eaLnBrk="0" fontAlgn="base" latinLnBrk="0" hangingPunct="0">
              <a:lnSpc>
                <a:spcPct val="100000"/>
              </a:lnSpc>
              <a:spcBef>
                <a:spcPct val="0"/>
              </a:spcBef>
              <a:spcAft>
                <a:spcPct val="0"/>
              </a:spcAft>
              <a:buClrTx/>
              <a:buSzTx/>
              <a:buFontTx/>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.Pollution Control: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idle time and fuel wastage, helping lower emissions.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algn="l" defTabSz="914400" rtl="0" eaLnBrk="0" fontAlgn="base" latinLnBrk="0" hangingPunct="0">
              <a:lnSpc>
                <a:spcPct val="100000"/>
              </a:lnSpc>
              <a:spcBef>
                <a:spcPct val="0"/>
              </a:spcBef>
              <a:spcAft>
                <a:spcPct val="0"/>
              </a:spcAft>
              <a:buClrTx/>
              <a:buSzTx/>
              <a:buFontTx/>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Congestion: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Minimizes waiting times at signals and improves traffic flow.</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 &amp; Fuel: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Optimized routes and reduced idle times lead to cost savings.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Road Safety: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Quick detection of accidents and emergency vehicle prioritization.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Environment-Friendly: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Cuts down on unnecessary fuel consumption and air pollution.</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&amp; Flexible: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be integrated into existing infrastructure and expanded city-wide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1"/>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11" name="Slide Number Placeholder 10"/>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3" name="Content Placeholder 2"/>
          <p:cNvSpPr>
            <a:spLocks noGrp="1"/>
          </p:cNvSpPr>
          <p:nvPr>
            <p:ph sz="quarter" idx="1"/>
          </p:nvPr>
        </p:nvSpPr>
        <p:spPr>
          <a:xfrm>
            <a:off x="279401" y="1025527"/>
            <a:ext cx="11633200" cy="5137146"/>
          </a:xfrm>
        </p:spPr>
        <p:txBody>
          <a:bodyPr vert="horz" wrap="square" lIns="91440" tIns="45720" rIns="91440" bIns="45720" numCol="1" anchor="t" anchorCtr="0" compatLnSpc="1">
            <a:normAutofit/>
          </a:bodyPr>
          <a:lstStyle/>
          <a:p>
            <a:r>
              <a:rPr lang="en-US" sz="1800" dirty="0">
                <a:latin typeface="Times New Roman" panose="02020603050405020304" pitchFamily="18" charset="0"/>
                <a:cs typeface="Times New Roman" panose="02020603050405020304" pitchFamily="18" charset="0"/>
              </a:rPr>
              <a:t>1Ali, A., &amp; </a:t>
            </a:r>
            <a:r>
              <a:rPr lang="en-US" sz="1800" dirty="0" err="1">
                <a:latin typeface="Times New Roman" panose="02020603050405020304" pitchFamily="18" charset="0"/>
                <a:cs typeface="Times New Roman" panose="02020603050405020304" pitchFamily="18" charset="0"/>
              </a:rPr>
              <a:t>Khubrani</a:t>
            </a:r>
            <a:r>
              <a:rPr lang="en-US" sz="1800" dirty="0">
                <a:latin typeface="Times New Roman" panose="02020603050405020304" pitchFamily="18" charset="0"/>
                <a:cs typeface="Times New Roman" panose="02020603050405020304" pitchFamily="18" charset="0"/>
              </a:rPr>
              <a:t>, M. M. (2022). "Counterfeit Currency Detection Using Image Processing Techniques." MDPI Journal of Imaging.</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Patel, K., et al. (2021). "A Novel Approach for Fake Currency Detection Using Deep Learning." International Journal of Advanced Computer Science and Applications, 12(5).</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Sharma, R., &amp; Gupta, S. (2023). "Smartphone-Based Currency Authentication Using Image Processing." Journal of Computer Science and Technology.</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Kumar, V., et al. (2022). "Real-Time Fake Currency Detection Using Lightweight CNN Models." IEEE Conference on Artificial Intelligence and Applications.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Singh, A., &amp; Kaur, M. (2021). "Image-Based Currency Verification with Machine Learning." International Journal of Innovative Technology and Exploring Engineering, 10(8).</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Fake Currency Detection Using Image Processing and Random Forest Algorithm (Shelke et al., Apr 2023)</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Paper Currency Authenticity Recognition Model Using Machine Vision &amp; Fuzzy Interface System (</a:t>
            </a:r>
            <a:r>
              <a:rPr lang="en-US" sz="1800" dirty="0" err="1">
                <a:latin typeface="Times New Roman" panose="02020603050405020304" pitchFamily="18" charset="0"/>
                <a:cs typeface="Times New Roman" panose="02020603050405020304" pitchFamily="18" charset="0"/>
              </a:rPr>
              <a:t>Mirbod</a:t>
            </a:r>
            <a:r>
              <a:rPr lang="en-US" sz="1800" dirty="0">
                <a:latin typeface="Times New Roman" panose="02020603050405020304" pitchFamily="18" charset="0"/>
                <a:cs typeface="Times New Roman" panose="02020603050405020304" pitchFamily="18" charset="0"/>
              </a:rPr>
              <a:t>, 2022)</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Automatic Counterfeit Currency Detection Using Snapshot Hyperspectral Imaging (Sensors, 2023)</a:t>
            </a:r>
            <a:endParaRPr lang="en-US" sz="18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10000"/>
              </a:lnSpc>
              <a:spcBef>
                <a:spcPts val="200"/>
              </a:spcBef>
              <a:spcAft>
                <a:spcPts val="200"/>
              </a:spcAft>
              <a:buClr>
                <a:schemeClr val="accent1"/>
              </a:buClr>
              <a:buSzPct val="85000"/>
              <a:buFont typeface="Wingdings 2" panose="05020102010507070707"/>
              <a:buNone/>
              <a:defRPr/>
            </a:pPr>
            <a:endParaRPr kumimoji="0" lang="en-IN" sz="1700" b="0" i="0" u="none" strike="noStrike" kern="1200" cap="none" spc="0" normalizeH="0" baseline="0" noProof="0" dirty="0">
              <a:ln>
                <a:noFill/>
              </a:ln>
              <a:solidFill>
                <a:srgbClr val="004376"/>
              </a:solidFill>
              <a:effectLst/>
              <a:uLnTx/>
              <a:uFillTx/>
              <a:latin typeface="+mn-lt"/>
              <a:ea typeface="+mn-ea"/>
              <a:cs typeface="+mn-cs"/>
            </a:endParaRPr>
          </a:p>
        </p:txBody>
      </p:sp>
      <p:sp>
        <p:nvSpPr>
          <p:cNvPr id="7" name="Title 1"/>
          <p:cNvSpPr>
            <a:spLocks noGrp="1"/>
          </p:cNvSpPr>
          <p:nvPr>
            <p:ph type="title"/>
          </p:nvPr>
        </p:nvSpPr>
        <p:spPr>
          <a:xfrm>
            <a:off x="361950" y="158751"/>
            <a:ext cx="11550650" cy="866776"/>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References</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8679" name="Picture 1"/>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8680"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5"/>
          <p:cNvSpPr txBox="1">
            <a:spLocks noGrp="1"/>
          </p:cNvSpPr>
          <p:nvPr>
            <p:ph type="dt" sz="half"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Palatino Linotype" panose="02040502050505030304" pitchFamily="18"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Palatino Linotype" panose="02040502050505030304" pitchFamily="18" charset="0"/>
                <a:ea typeface="+mn-ea"/>
                <a:cs typeface="+mn-cs"/>
              </a:defRPr>
            </a:lvl5pPr>
          </a:lstStyle>
          <a:p>
            <a:pPr lvl="0" algn="r" eaLnBrk="1" hangingPunct="1"/>
            <a:fld id="{BB962C8B-B14F-4D97-AF65-F5344CB8AC3E}" type="datetime2">
              <a:rPr lang="en-US" altLang="en-US" sz="1400" dirty="0">
                <a:solidFill>
                  <a:schemeClr val="tx2"/>
                </a:solidFill>
              </a:rPr>
            </a:fld>
            <a:endParaRPr lang="en-US" altLang="en-US" sz="1400" dirty="0">
              <a:solidFill>
                <a:schemeClr val="tx2"/>
              </a:solidFill>
            </a:endParaRPr>
          </a:p>
        </p:txBody>
      </p:sp>
      <p:sp>
        <p:nvSpPr>
          <p:cNvPr id="8" name="Slide Number Placeholder 7"/>
          <p:cNvSpPr txBox="1">
            <a:spLocks noGrp="1"/>
          </p:cNvSpPr>
          <p:nvPr>
            <p:ph type="sldNum" sz="quarter" idx="12"/>
          </p:nvPr>
        </p:nvSpPr>
        <p:spPr/>
        <p:txBody>
          <a:bodyPr vert="horz" wrap="none" lIns="0" tIns="0" rIns="0" bIns="0" numCol="1" anchor="ctr" anchorCtr="1" compatLnSpc="1">
            <a:noAutofit/>
          </a:bodyPr>
          <a:lstStyle/>
          <a:p>
            <a:pPr marL="0" indent="0" algn="ctr" eaLnBrk="1" hangingPunct="1">
              <a:spcBef>
                <a:spcPct val="0"/>
              </a:spcBef>
              <a:buClrTx/>
              <a:buSzTx/>
              <a:buFontTx/>
              <a:buNone/>
            </a:pPr>
            <a:fld id="{9A0DB2DC-4C9A-4742-B13C-FB6460FD3503}" type="slidenum">
              <a:rPr lang="en-US" altLang="en-US" sz="1400" dirty="0">
                <a:solidFill>
                  <a:schemeClr val="bg1"/>
                </a:solidFill>
                <a:latin typeface="Century Gothic" panose="020B0502020202020204" pitchFamily="34" charset="0"/>
              </a:rPr>
            </a:fld>
            <a:endParaRPr lang="en-US" altLang="en-US" sz="1400" dirty="0">
              <a:solidFill>
                <a:schemeClr val="bg1"/>
              </a:solidFill>
              <a:latin typeface="Century Gothic" panose="020B0502020202020204" pitchFamily="34" charset="0"/>
            </a:endParaRPr>
          </a:p>
        </p:txBody>
      </p:sp>
      <p:sp>
        <p:nvSpPr>
          <p:cNvPr id="2" name="Title 1"/>
          <p:cNvSpPr>
            <a:spLocks noGrp="1"/>
          </p:cNvSpPr>
          <p:nvPr>
            <p:ph type="title"/>
          </p:nvPr>
        </p:nvSpPr>
        <p:spPr>
          <a:xfrm>
            <a:off x="1774825" y="2708275"/>
            <a:ext cx="9144000" cy="1066800"/>
          </a:xfrm>
        </p:spPr>
        <p:txBody>
          <a:bodyPr vert="horz" wrap="square" lIns="91440" tIns="45720" rIns="91440" bIns="91440" numCol="1" anchor="b" anchorCtr="0" compatLnSpc="1">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rPr>
              <a:t>THANK YOU</a:t>
            </a:r>
            <a:endParaRPr kumimoji="0" lang="en-IN" sz="4000" b="0" i="0" u="none" strike="noStrike" kern="1200" cap="none" spc="0" normalizeH="0" baseline="0" noProof="0" dirty="0">
              <a:ln>
                <a:noFill/>
              </a:ln>
              <a:solidFill>
                <a:schemeClr val="bg2">
                  <a:lumMod val="50000"/>
                </a:schemeClr>
              </a:solidFill>
              <a:effectLst/>
              <a:uLnTx/>
              <a:uFillTx/>
              <a:latin typeface="Times New Roman" panose="02020603050405020304" pitchFamily="18" charset="0"/>
              <a:ea typeface="Microsoft Sans Serif" panose="020B0604020202020204" pitchFamily="34" charset="0"/>
              <a:cs typeface="Times New Roman" panose="02020603050405020304" pitchFamily="18" charset="0"/>
            </a:endParaRPr>
          </a:p>
        </p:txBody>
      </p:sp>
      <p:pic>
        <p:nvPicPr>
          <p:cNvPr id="29701" name="Picture 2"/>
          <p:cNvPicPr>
            <a:picLocks noChangeAspect="1"/>
          </p:cNvPicPr>
          <p:nvPr/>
        </p:nvPicPr>
        <p:blipFill>
          <a:blip r:embed="rId1"/>
          <a:stretch>
            <a:fillRect/>
          </a:stretch>
        </p:blipFill>
        <p:spPr>
          <a:xfrm>
            <a:off x="10920413" y="158750"/>
            <a:ext cx="981075" cy="838200"/>
          </a:xfrm>
          <a:prstGeom prst="rect">
            <a:avLst/>
          </a:prstGeom>
          <a:noFill/>
          <a:ln w="9525">
            <a:noFill/>
          </a:ln>
        </p:spPr>
      </p:pic>
      <p:sp>
        <p:nvSpPr>
          <p:cNvPr id="29702" name="Footer Placeholder 11"/>
          <p:cNvSpPr txBox="1"/>
          <p:nvPr/>
        </p:nvSpPr>
        <p:spPr>
          <a:xfrm>
            <a:off x="966788" y="6400800"/>
            <a:ext cx="5283200" cy="457200"/>
          </a:xfrm>
          <a:prstGeom prst="rect">
            <a:avLst/>
          </a:prstGeom>
          <a:noFill/>
          <a:ln w="9525">
            <a:noFill/>
          </a:ln>
        </p:spPr>
        <p:txBody>
          <a:bodyPr anchor="ctr" anchorCtr="0"/>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B1B8D2"/>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297FD5"/>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297FD5"/>
              </a:buClr>
              <a:buFont typeface="Arial" panose="020B0604020202020204" pitchFamily="34" charset="0"/>
              <a:buChar char="•"/>
              <a:defRPr sz="2000" kern="1200">
                <a:solidFill>
                  <a:schemeClr val="tx1"/>
                </a:solidFill>
                <a:latin typeface="+mn-lt"/>
                <a:ea typeface="+mn-ea"/>
                <a:cs typeface="+mn-cs"/>
              </a:defRPr>
            </a:lvl5pPr>
          </a:lstStyle>
          <a:p>
            <a:pPr marL="0" lvl="0" indent="0" eaLnBrk="1" hangingPunct="1">
              <a:spcBef>
                <a:spcPct val="0"/>
              </a:spcBef>
              <a:buClrTx/>
              <a:buSzTx/>
              <a:buFontTx/>
              <a:buNone/>
            </a:pPr>
            <a:r>
              <a:rPr lang="en-US" altLang="en-US" sz="1400" dirty="0">
                <a:solidFill>
                  <a:schemeClr val="tx2"/>
                </a:solidFill>
              </a:rPr>
              <a:t>PROJECT VIVA-VOCE</a:t>
            </a:r>
            <a:endParaRPr lang="en-US" altLang="en-US" sz="1400" dirty="0">
              <a:solidFill>
                <a:schemeClr val="tx2"/>
              </a:solidFill>
            </a:endParaRPr>
          </a:p>
        </p:txBody>
      </p:sp>
    </p:spTree>
  </p:cSld>
  <p:clrMapOvr>
    <a:masterClrMapping/>
  </p:clrMapOvr>
  <p:transition spd="med">
    <p:fade/>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903*457"/>
  <p:tag name="TABLE_ENDDRAG_RECT" val="32*67*903*457"/>
</p:tagLst>
</file>

<file path=ppt/tags/tag6.xml><?xml version="1.0" encoding="utf-8"?>
<p:tagLst xmlns:p="http://schemas.openxmlformats.org/presentationml/2006/main">
  <p:tag name="TABLE_ENDDRAG_ORIGIN_RECT" val="925*458"/>
  <p:tag name="TABLE_ENDDRAG_RECT" val="15*66*925*458"/>
</p:tagLst>
</file>

<file path=ppt/tags/tag7.xml><?xml version="1.0" encoding="utf-8"?>
<p:tagLst xmlns:p="http://schemas.openxmlformats.org/presentationml/2006/main">
  <p:tag name="TABLE_ENDDRAG_ORIGIN_RECT" val="869*444"/>
  <p:tag name="TABLE_ENDDRAG_RECT" val="53*80*869*444"/>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Quarterly earnings presentatio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spDef>
      <a:spPr/>
      <a:bodyPr rtlCol="0" anchor="ctr"/>
      <a:lstStyle>
        <a:defPPr algn="ctr">
          <a:defRPr dirty="0"/>
        </a:defPPr>
      </a:lstStyle>
      <a:style>
        <a:lnRef idx="3">
          <a:schemeClr val="lt1"/>
        </a:lnRef>
        <a:fillRef idx="1">
          <a:schemeClr val="accent2"/>
        </a:fillRef>
        <a:effectRef idx="1">
          <a:schemeClr val="accent2"/>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18490</Words>
  <Application>WPS Presentation</Application>
  <PresentationFormat>Widescreen</PresentationFormat>
  <Paragraphs>513</Paragraphs>
  <Slides>20</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20</vt:i4>
      </vt:variant>
    </vt:vector>
  </HeadingPairs>
  <TitlesOfParts>
    <vt:vector size="33" baseType="lpstr">
      <vt:lpstr>Arial</vt:lpstr>
      <vt:lpstr>SimSun</vt:lpstr>
      <vt:lpstr>Wingdings</vt:lpstr>
      <vt:lpstr>Palatino Linotype</vt:lpstr>
      <vt:lpstr>Century Gothic</vt:lpstr>
      <vt:lpstr>Wingdings 2</vt:lpstr>
      <vt:lpstr>Wingdings 2</vt:lpstr>
      <vt:lpstr>Microsoft Sans Serif</vt:lpstr>
      <vt:lpstr>Times New Roman</vt:lpstr>
      <vt:lpstr>Times New Roman</vt:lpstr>
      <vt:lpstr>Microsoft YaHei</vt:lpstr>
      <vt:lpstr>Arial Unicode MS</vt:lpstr>
      <vt:lpstr>Quarterly earnings presentation</vt:lpstr>
      <vt:lpstr> SMART TRAFFIC LIGHT MANAGEMENT SYSTEM</vt:lpstr>
      <vt:lpstr>Outline</vt:lpstr>
      <vt:lpstr>Abstract</vt:lpstr>
      <vt:lpstr>             Introduction</vt:lpstr>
      <vt:lpstr>                       Literature survey</vt:lpstr>
      <vt:lpstr>                       Literature Survey</vt:lpstr>
      <vt:lpstr>                      Literature survey</vt:lpstr>
      <vt:lpstr>Motivation</vt:lpstr>
      <vt:lpstr>                              Motivation</vt:lpstr>
      <vt:lpstr>Objective</vt:lpstr>
      <vt:lpstr>Existing Method </vt:lpstr>
      <vt:lpstr>                      Block diagram</vt:lpstr>
      <vt:lpstr>Proposed Method</vt:lpstr>
      <vt:lpstr>                                                                                                           Explanation of Proposed Work</vt:lpstr>
      <vt:lpstr>                                                                                                           Explanation of Proposed Work</vt:lpstr>
      <vt:lpstr>               Explanation of Proposed Work</vt:lpstr>
      <vt:lpstr>                                                                                                                              Hardware &amp; Software Involved </vt:lpstr>
      <vt:lpstr>Application &amp; Advantages</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DETECTION OF CARDIAC ARREST USING CORONARY ARTERY CALICIUM SCORE</dc:title>
  <dc:creator>Annapureddy pramod</dc:creator>
  <cp:lastModifiedBy>Vasavi Vaka</cp:lastModifiedBy>
  <cp:revision>32</cp:revision>
  <dcterms:created xsi:type="dcterms:W3CDTF">2017-04-13T11:52:00Z</dcterms:created>
  <dcterms:modified xsi:type="dcterms:W3CDTF">2025-10-13T10:56:03Z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TC034605459991</vt:lpwstr>
  </property>
  <property fmtid="{D5CDD505-2E9C-101B-9397-08002B2CF9AE}" pid="3" name="ICV">
    <vt:lpwstr>721EF0248BD8429B86E889D6E019FB27_12</vt:lpwstr>
  </property>
  <property fmtid="{D5CDD505-2E9C-101B-9397-08002B2CF9AE}" pid="4" name="KSOProductBuildVer">
    <vt:lpwstr>1033-12.2.0.21931</vt:lpwstr>
  </property>
</Properties>
</file>